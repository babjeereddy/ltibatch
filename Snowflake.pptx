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9" r:id="rId6"/>
    <p:sldId id="264" r:id="rId7"/>
    <p:sldId id="270" r:id="rId8"/>
    <p:sldId id="271" r:id="rId9"/>
    <p:sldId id="272" r:id="rId10"/>
    <p:sldId id="265" r:id="rId11"/>
    <p:sldId id="266" r:id="rId12"/>
    <p:sldId id="268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67" r:id="rId22"/>
    <p:sldId id="281" r:id="rId23"/>
    <p:sldId id="282" r:id="rId24"/>
    <p:sldId id="283" r:id="rId25"/>
    <p:sldId id="284" r:id="rId26"/>
    <p:sldId id="286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5" r:id="rId46"/>
    <p:sldId id="306" r:id="rId47"/>
    <p:sldId id="304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3612C-B4E0-405E-8150-2DFD3616867F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8D5A9-91BB-4EAA-9DF0-209E252E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7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463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8AB3-D5CF-929C-D5AD-7635B0639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Snowflake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75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55958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Snowflake – Introduction and Architecture</a:t>
            </a:r>
            <a:endParaRPr lang="en-US" sz="2400" b="1" dirty="0"/>
          </a:p>
          <a:p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is a modern cloud-native data platform designed for data warehousing, data lakes, data engineering, data sharing, and machine learning workloads.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Unlike traditional databases, Snowflake is built for the cloud and runs on AWS, Azure, and Google Cloud.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It provides a single platform where organizations can store, analyze, and share structured and semi-structured data efficiently.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Offers seamless scalability and eliminates the need to manage hardware, tuning, or complex configurations.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Uses separation of storage and compute, which allows independent scaling.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Core Capabilities: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Elastic Compute – Instantly scale up or down depending on workload.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Centralized Storage – Store data in compressed, secure formats.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 for Semi-structured Data – JSON, Avro, ORC, Parquet without ETL overhead.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Multi-cloud Deployment – Runs across AWS, Azure, GCP with consistent experience.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71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2337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Advantages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Business &amp; Technical Benefits</a:t>
            </a:r>
          </a:p>
          <a:p>
            <a:pPr>
              <a:spcBef>
                <a:spcPts val="600"/>
              </a:spcBef>
            </a:pPr>
            <a:r>
              <a:rPr lang="en-US" b="1" dirty="0"/>
              <a:t>Separation of Storage and Compute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Compute clusters (called </a:t>
            </a:r>
            <a:r>
              <a:rPr lang="en-US" b="1" dirty="0"/>
              <a:t>Virtual Warehouses</a:t>
            </a:r>
            <a:r>
              <a:rPr lang="en-US" dirty="0"/>
              <a:t>) can be scaled independently.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Enables multiple teams to run workloads without competing for </a:t>
            </a:r>
            <a:r>
              <a:rPr lang="en-US" dirty="0" err="1"/>
              <a:t>resources.</a:t>
            </a:r>
            <a:r>
              <a:rPr lang="en-US" b="1" dirty="0" err="1"/>
              <a:t>High</a:t>
            </a:r>
            <a:r>
              <a:rPr lang="en-US" b="1" dirty="0"/>
              <a:t> Performance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Massively Parallel Processing (MPP)</a:t>
            </a:r>
            <a:r>
              <a:rPr lang="en-US" dirty="0"/>
              <a:t> to distribute queries across nodes.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Automatic query optimization with no manual tuning required.</a:t>
            </a:r>
          </a:p>
          <a:p>
            <a:pPr>
              <a:spcBef>
                <a:spcPts val="600"/>
              </a:spcBef>
            </a:pPr>
            <a:r>
              <a:rPr lang="en-US" b="1" dirty="0"/>
              <a:t>Data Sharing &amp; Collaboration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Unique </a:t>
            </a:r>
            <a:r>
              <a:rPr lang="en-US" b="1" dirty="0"/>
              <a:t>Secure Data Sharing</a:t>
            </a:r>
            <a:r>
              <a:rPr lang="en-US" dirty="0"/>
              <a:t> feature lets organizations share live data across accounts without moving or copying.</a:t>
            </a:r>
          </a:p>
          <a:p>
            <a:pPr>
              <a:spcBef>
                <a:spcPts val="600"/>
              </a:spcBef>
            </a:pPr>
            <a:r>
              <a:rPr lang="en-US" b="1" dirty="0"/>
              <a:t>Security &amp; Governance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End-to-end encryption, automatic backups, and disaster recovery.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role-based access control (RBAC)</a:t>
            </a:r>
            <a:r>
              <a:rPr lang="en-US" dirty="0"/>
              <a:t> and </a:t>
            </a:r>
            <a:r>
              <a:rPr lang="en-US" b="1" dirty="0"/>
              <a:t>multi-factor authentication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r>
              <a:rPr lang="en-US" b="1" dirty="0"/>
              <a:t>Near-Zero Maintenance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need for software patching, indexing, or infrastructure management.</a:t>
            </a:r>
          </a:p>
          <a:p>
            <a:pPr lvl="1"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1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240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</a:t>
            </a:r>
            <a:r>
              <a:rPr lang="en-IN" b="1" dirty="0"/>
              <a:t>Architecture</a:t>
            </a:r>
            <a:endParaRPr lang="en-US" b="1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84A6D-C99C-040D-024F-C5EB3B03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142882"/>
            <a:ext cx="5072101" cy="502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12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240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</a:t>
            </a:r>
            <a:r>
              <a:rPr lang="en-IN" b="1" dirty="0"/>
              <a:t>Architecture</a:t>
            </a:r>
            <a:endParaRPr lang="en-US" b="1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Three-Layer Architecture</a:t>
            </a:r>
          </a:p>
          <a:p>
            <a:pPr>
              <a:spcBef>
                <a:spcPts val="600"/>
              </a:spcBef>
            </a:pPr>
            <a:r>
              <a:rPr lang="en-US" b="1" dirty="0"/>
              <a:t>Database Storage Layer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All data loaded into Snowflake is automatically </a:t>
            </a:r>
            <a:r>
              <a:rPr lang="en-US" b="1" dirty="0"/>
              <a:t>compressed, optimized, and encrypted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Handles both structured (tables, relational data) and semi-structured (JSON, Avro, Parquet).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Storage is </a:t>
            </a:r>
            <a:r>
              <a:rPr lang="en-US" b="1" dirty="0"/>
              <a:t>centralized and shared</a:t>
            </a:r>
            <a:r>
              <a:rPr lang="en-US" dirty="0"/>
              <a:t>, but fully abstracted from users.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Compute Layer (Virtual Warehouses)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Compute is handled by independent clusters called </a:t>
            </a:r>
            <a:r>
              <a:rPr lang="en-US" b="1" dirty="0"/>
              <a:t>Virtual Warehouses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warehouse can perform queries, ETL jobs, and transformations independently.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Warehouses can be resized instantly (small → medium → large) depending on query needs.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Cloud Services Layer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Coordinates activities across storage and compute.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Manages </a:t>
            </a:r>
            <a:r>
              <a:rPr lang="en-US" b="1" dirty="0"/>
              <a:t>authentication, metadata, query optimization, access control, infrastructure management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scalability and elasticity</a:t>
            </a:r>
            <a:r>
              <a:rPr lang="en-US" dirty="0"/>
              <a:t> without user intervention.</a:t>
            </a:r>
          </a:p>
          <a:p>
            <a:pPr lvl="1"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7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Standard Edition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Target Audience:</a:t>
            </a:r>
            <a:r>
              <a:rPr lang="en-US" dirty="0"/>
              <a:t> Small to medium businesses or teams starting with cloud data.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Core Snowflake capabilities (data storage, compute, and cloud services).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 access and role-based access control.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 (up to 1 day by default).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Cloning (zero-copy cloning).</a:t>
            </a:r>
          </a:p>
          <a:p>
            <a:pPr>
              <a:spcBef>
                <a:spcPts val="600"/>
              </a:spcBef>
            </a:pPr>
            <a:r>
              <a:rPr lang="en-US" b="1" dirty="0"/>
              <a:t>Limitations: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Limited support for multi-cluster warehouses.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advanced security or governance features.</a:t>
            </a:r>
          </a:p>
        </p:txBody>
      </p:sp>
    </p:spTree>
    <p:extLst>
      <p:ext uri="{BB962C8B-B14F-4D97-AF65-F5344CB8AC3E}">
        <p14:creationId xmlns:p14="http://schemas.microsoft.com/office/powerpoint/2010/main" val="229115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Enterprise Edition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Target Audience:</a:t>
            </a:r>
            <a:r>
              <a:rPr lang="en-US" dirty="0"/>
              <a:t> Organizations needing enhanced security, compliance, and scalability.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Everything in Standard Edition.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Extended Time Travel</a:t>
            </a:r>
            <a:r>
              <a:rPr lang="en-US" dirty="0"/>
              <a:t>: up to 90 days.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Failover and Replication</a:t>
            </a:r>
            <a:r>
              <a:rPr lang="en-US" dirty="0"/>
              <a:t>: For high availability across regions.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Customer-Managed Keys (BYOK)</a:t>
            </a:r>
            <a:r>
              <a:rPr lang="en-US" dirty="0"/>
              <a:t>: Advanced encryption control.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Multi-cluster warehouses for handling concurrent workloads.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Ideal For:</a:t>
            </a:r>
            <a:r>
              <a:rPr lang="en-US" dirty="0"/>
              <a:t> Businesses with strict compliance, disaster recovery needs, and high concurrency.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031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Business Critical (formerly Enterprise for Sensitive Data)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Target Audience:</a:t>
            </a:r>
            <a:r>
              <a:rPr lang="en-US" dirty="0"/>
              <a:t> Organizations with strict regulatory and compliance requirements (e.g., finance, healthcare, government).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Everything in Enterprise Edition.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HIPAA, PCI DSS, SOC2 Type II Compliance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End-to-end encryption with </a:t>
            </a:r>
            <a:r>
              <a:rPr lang="en-US" b="1" dirty="0"/>
              <a:t>Tri-Secret Secure</a:t>
            </a:r>
            <a:r>
              <a:rPr lang="en-US" dirty="0"/>
              <a:t> (customer-managed keys + Snowflake keys).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Stronger data governance and auditing.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Ideal For:</a:t>
            </a:r>
            <a:r>
              <a:rPr lang="en-US" dirty="0"/>
              <a:t> Highly regulated industries needing top-tier security.</a:t>
            </a:r>
          </a:p>
        </p:txBody>
      </p:sp>
    </p:spTree>
    <p:extLst>
      <p:ext uri="{BB962C8B-B14F-4D97-AF65-F5344CB8AC3E}">
        <p14:creationId xmlns:p14="http://schemas.microsoft.com/office/powerpoint/2010/main" val="254117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Virtual Private Snowflake (VPS) / Virtual Private Snowflake for Customer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dirty="0"/>
              <a:t>Target Audience:</a:t>
            </a:r>
            <a:r>
              <a:rPr lang="en-US" dirty="0"/>
              <a:t> Enterprises needing dedicated infrastructure.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Single-tenant deployment.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Isolated compute and storage for extreme security and performance.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Custom network and security configurations.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Ideal For:</a:t>
            </a:r>
            <a:r>
              <a:rPr lang="en-US" dirty="0"/>
              <a:t> Large organizations with specific compliance or isolation needs.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808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FDDFC6-242F-AE70-8AD3-548E82CA2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124194"/>
              </p:ext>
            </p:extLst>
          </p:nvPr>
        </p:nvGraphicFramePr>
        <p:xfrm>
          <a:off x="720266" y="880220"/>
          <a:ext cx="9404125" cy="3703092"/>
        </p:xfrm>
        <a:graphic>
          <a:graphicData uri="http://schemas.openxmlformats.org/drawingml/2006/table">
            <a:tbl>
              <a:tblPr/>
              <a:tblGrid>
                <a:gridCol w="1880825">
                  <a:extLst>
                    <a:ext uri="{9D8B030D-6E8A-4147-A177-3AD203B41FA5}">
                      <a16:colId xmlns:a16="http://schemas.microsoft.com/office/drawing/2014/main" val="2531672965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1190240342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158133376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3481172884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533464387"/>
                    </a:ext>
                  </a:extLst>
                </a:gridCol>
              </a:tblGrid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Feature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Standard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Enterprise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Business Critical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VPS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84133"/>
                  </a:ext>
                </a:extLst>
              </a:tr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Time Travel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 day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1–90 days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1–90 days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1–90 days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15136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Multi-cluster Warehouses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Limited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123093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Replication &amp; Failover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31625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Customer-Managed Keys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 (Tri-Secret)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118501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Compliance (HIPAA, PCI DSS)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Partial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340433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Dedicated Infrastructure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Optional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282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72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43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Virtual Warehouse Sizes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Snowflake warehouse sizes are </a:t>
            </a:r>
            <a:r>
              <a:rPr lang="en-US" b="1" dirty="0"/>
              <a:t>scalable and represented in T-shirt sizes</a:t>
            </a:r>
            <a:r>
              <a:rPr lang="en-US" dirty="0"/>
              <a:t>. Each increase in size roughly </a:t>
            </a:r>
            <a:r>
              <a:rPr lang="en-US" b="1" dirty="0"/>
              <a:t>doubles the compute resources</a:t>
            </a:r>
            <a:r>
              <a:rPr lang="en-US" dirty="0"/>
              <a:t> (CPU, memory) and the query processing power.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56067D-F5AE-C6CD-5840-91BB51A65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303584"/>
              </p:ext>
            </p:extLst>
          </p:nvPr>
        </p:nvGraphicFramePr>
        <p:xfrm>
          <a:off x="722375" y="1645920"/>
          <a:ext cx="10267072" cy="3944116"/>
        </p:xfrm>
        <a:graphic>
          <a:graphicData uri="http://schemas.openxmlformats.org/drawingml/2006/table">
            <a:tbl>
              <a:tblPr/>
              <a:tblGrid>
                <a:gridCol w="2640244">
                  <a:extLst>
                    <a:ext uri="{9D8B030D-6E8A-4147-A177-3AD203B41FA5}">
                      <a16:colId xmlns:a16="http://schemas.microsoft.com/office/drawing/2014/main" val="544628507"/>
                    </a:ext>
                  </a:extLst>
                </a:gridCol>
                <a:gridCol w="2442525">
                  <a:extLst>
                    <a:ext uri="{9D8B030D-6E8A-4147-A177-3AD203B41FA5}">
                      <a16:colId xmlns:a16="http://schemas.microsoft.com/office/drawing/2014/main" val="862799594"/>
                    </a:ext>
                  </a:extLst>
                </a:gridCol>
                <a:gridCol w="5184303">
                  <a:extLst>
                    <a:ext uri="{9D8B030D-6E8A-4147-A177-3AD203B41FA5}">
                      <a16:colId xmlns:a16="http://schemas.microsoft.com/office/drawing/2014/main" val="185991972"/>
                    </a:ext>
                  </a:extLst>
                </a:gridCol>
              </a:tblGrid>
              <a:tr h="400128">
                <a:tc>
                  <a:txBody>
                    <a:bodyPr/>
                    <a:lstStyle/>
                    <a:p>
                      <a:r>
                        <a:rPr lang="en-IN" sz="1600"/>
                        <a:t>Warehouse Size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# of Server Clusters (Nodes)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Use Case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090887"/>
                  </a:ext>
                </a:extLst>
              </a:tr>
              <a:tr h="571610">
                <a:tc>
                  <a:txBody>
                    <a:bodyPr/>
                    <a:lstStyle/>
                    <a:p>
                      <a:r>
                        <a:rPr lang="en-IN" sz="1600" b="1"/>
                        <a:t>X-Small (XS)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 workloads, dev/test, lightweight queries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15428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Small (S)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endParaRPr lang="en-IN" sz="1600" dirty="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Light workloads, small analytics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297849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Medium (M)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  <a:endParaRPr lang="en-IN" sz="1600" dirty="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Moderate workloads, ETL, dashboards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301113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Large (L)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8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 concurrency, complex analytics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532776"/>
                  </a:ext>
                </a:extLst>
              </a:tr>
              <a:tr h="571610">
                <a:tc>
                  <a:txBody>
                    <a:bodyPr/>
                    <a:lstStyle/>
                    <a:p>
                      <a:r>
                        <a:rPr lang="en-IN" sz="1600" b="1"/>
                        <a:t>X-Large (XL)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16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Heavy ETL, multiple dashboards, high concurrency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243045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2X-Large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32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Very large workloads, enterprise-level queries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723370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3X-Large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64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Massive analytics, high concurrency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94636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4X-Large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128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Extreme workloads, peak demand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895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093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506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Scaling and Concurrency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Snowflake warehouses support </a:t>
            </a:r>
            <a:r>
              <a:rPr lang="en-US" b="1" dirty="0"/>
              <a:t>scaling</a:t>
            </a:r>
            <a:r>
              <a:rPr lang="en-US" dirty="0"/>
              <a:t> in two ways:</a:t>
            </a:r>
          </a:p>
          <a:p>
            <a:pPr>
              <a:spcBef>
                <a:spcPts val="600"/>
              </a:spcBef>
            </a:pPr>
            <a:r>
              <a:rPr lang="en-US" b="1" dirty="0"/>
              <a:t>Vertically (Resize)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You can </a:t>
            </a:r>
            <a:r>
              <a:rPr lang="en-US" b="1" dirty="0"/>
              <a:t>increase/decrease the warehouse size</a:t>
            </a:r>
            <a:r>
              <a:rPr lang="en-US" dirty="0"/>
              <a:t> on-the-fly without downtime.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Example: XS → M → L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Impact: Increases query processing speed and memory available.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Horizontally (Multi-Cluster Warehouses)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auto-scaling for concurrent workloads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You can define </a:t>
            </a:r>
            <a:r>
              <a:rPr lang="en-US" b="1" dirty="0"/>
              <a:t>min and max clusters</a:t>
            </a:r>
            <a:r>
              <a:rPr lang="en-US" dirty="0"/>
              <a:t>, e.g., 1–5 clusters.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automatically spins up clusters during </a:t>
            </a:r>
            <a:r>
              <a:rPr lang="en-US" b="1" dirty="0"/>
              <a:t>high concurrency</a:t>
            </a:r>
            <a:r>
              <a:rPr lang="en-US" dirty="0"/>
              <a:t> and shuts them down when idle.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58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Multi-cluster warehouses allow Snowflake to automatically scale compute resources horizontally to handle high concurrency.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ensures consistent query performance, even when multiple users or processes run queries simultaneously..</a:t>
            </a:r>
          </a:p>
          <a:p>
            <a:pPr>
              <a:spcBef>
                <a:spcPts val="600"/>
              </a:spcBef>
            </a:pPr>
            <a:r>
              <a:rPr lang="en-US" b="1" dirty="0"/>
              <a:t>Horizontal Scaling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Multi-cluster warehouses scale </a:t>
            </a:r>
            <a:r>
              <a:rPr lang="en-US" b="1" dirty="0"/>
              <a:t>out</a:t>
            </a:r>
            <a:r>
              <a:rPr lang="en-US" dirty="0"/>
              <a:t>, i.e., add more compute clusters.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cluster is a </a:t>
            </a:r>
            <a:r>
              <a:rPr lang="en-US" b="1" dirty="0"/>
              <a:t>full copy of the warehouse</a:t>
            </a:r>
            <a:r>
              <a:rPr lang="en-US" dirty="0"/>
              <a:t>, sharing data but processing separate queries.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Helps handle </a:t>
            </a:r>
            <a:r>
              <a:rPr lang="en-US" b="1" dirty="0"/>
              <a:t>concurrent queries</a:t>
            </a:r>
            <a:r>
              <a:rPr lang="en-US" dirty="0"/>
              <a:t> without slowing down performance.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How Multi-Cluster Warehouses Work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sends the query to the </a:t>
            </a:r>
            <a:r>
              <a:rPr lang="en-US" b="1" dirty="0"/>
              <a:t>current cluster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the active cluster is overloaded, Snowflake </a:t>
            </a:r>
            <a:r>
              <a:rPr lang="en-US" b="1" dirty="0"/>
              <a:t>spins up additional clusters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Extra clusters that are not used are automatically </a:t>
            </a:r>
            <a:r>
              <a:rPr lang="en-US" b="1" dirty="0"/>
              <a:t>suspended</a:t>
            </a:r>
            <a:r>
              <a:rPr lang="en-US" dirty="0"/>
              <a:t> to save cost.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Queries run </a:t>
            </a:r>
            <a:r>
              <a:rPr lang="en-US" b="1" dirty="0"/>
              <a:t>without queuing</a:t>
            </a:r>
            <a:r>
              <a:rPr lang="en-US" dirty="0"/>
              <a:t>, improving performance for concurrent users.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9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4E1C8B-B8D1-595D-1549-4110AB044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30769"/>
              </p:ext>
            </p:extLst>
          </p:nvPr>
        </p:nvGraphicFramePr>
        <p:xfrm>
          <a:off x="695288" y="711105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695756779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778836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930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Min Clusters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Minimum number of clusters to keep 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6465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Max Clusters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Maximum number of clusters to scale up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078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Scaling Policy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How Snowflake decides to start/stop clusters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0472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Warehouse Size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Size of each cluster (XS, S, M, L, XL,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66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519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Scaling Policies</a:t>
            </a:r>
          </a:p>
          <a:p>
            <a:pPr>
              <a:spcBef>
                <a:spcPts val="600"/>
              </a:spcBef>
            </a:pPr>
            <a:r>
              <a:rPr lang="en-US" dirty="0"/>
              <a:t>Snowflake supports two </a:t>
            </a:r>
            <a:r>
              <a:rPr lang="en-US" b="1" dirty="0"/>
              <a:t>auto-scaling policies</a:t>
            </a:r>
            <a:r>
              <a:rPr lang="en-US" dirty="0"/>
              <a:t>: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Standard Policy (Default)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Scales </a:t>
            </a:r>
            <a:r>
              <a:rPr lang="en-US" b="1" dirty="0"/>
              <a:t>up</a:t>
            </a:r>
            <a:r>
              <a:rPr lang="en-US" dirty="0"/>
              <a:t> when load increases.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Scales </a:t>
            </a:r>
            <a:r>
              <a:rPr lang="en-US" b="1" dirty="0"/>
              <a:t>down</a:t>
            </a:r>
            <a:r>
              <a:rPr lang="en-US" dirty="0"/>
              <a:t> after some idle time.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Example: Min 1 cluster, Max 3 clusters.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concurrency exceeds capacity → 2nd cluster starts.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Extra clusters suspended when idle.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Economy Policy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Scales </a:t>
            </a:r>
            <a:r>
              <a:rPr lang="en-US" b="1" dirty="0"/>
              <a:t>up</a:t>
            </a:r>
            <a:r>
              <a:rPr lang="en-US" dirty="0"/>
              <a:t> only when needed.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Suspends extra clusters </a:t>
            </a:r>
            <a:r>
              <a:rPr lang="en-US" b="1" dirty="0"/>
              <a:t>more aggressively</a:t>
            </a:r>
            <a:r>
              <a:rPr lang="en-US" dirty="0"/>
              <a:t> to save cost.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Ideal for cost-sensitive workloads with </a:t>
            </a:r>
            <a:r>
              <a:rPr lang="en-US" b="1" dirty="0"/>
              <a:t>predictable usage patterns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69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Best Practices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Choose </a:t>
            </a:r>
            <a:r>
              <a:rPr lang="en-US" b="1" dirty="0"/>
              <a:t>appropriate warehouse size</a:t>
            </a:r>
            <a:r>
              <a:rPr lang="en-US" dirty="0"/>
              <a:t> for base workload.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Set </a:t>
            </a:r>
            <a:r>
              <a:rPr lang="en-US" b="1" dirty="0"/>
              <a:t>Min and Max clusters</a:t>
            </a:r>
            <a:r>
              <a:rPr lang="en-US" dirty="0"/>
              <a:t> based on expected concurrency.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Standard Policy</a:t>
            </a:r>
            <a:r>
              <a:rPr lang="en-US" dirty="0"/>
              <a:t> for consistent performance, </a:t>
            </a:r>
            <a:r>
              <a:rPr lang="en-US" b="1" dirty="0"/>
              <a:t>Economy Policy</a:t>
            </a:r>
            <a:r>
              <a:rPr lang="en-US" dirty="0"/>
              <a:t> to save costs.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Monitor warehouse </a:t>
            </a:r>
            <a:r>
              <a:rPr lang="en-US" b="1" dirty="0"/>
              <a:t>credit usage</a:t>
            </a:r>
            <a:r>
              <a:rPr lang="en-US" dirty="0"/>
              <a:t> to optimize cost vs performance.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Avoid extremely large clusters unless absolutely necessary; scale horizontally instead.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Cost Implications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Charges = Number of clusters × size × active time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Idle clusters do </a:t>
            </a:r>
            <a:r>
              <a:rPr lang="en-US" b="1" dirty="0"/>
              <a:t>not consume credits</a:t>
            </a:r>
            <a:r>
              <a:rPr lang="en-US" dirty="0"/>
              <a:t> if suspended.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Horizontal scaling can increase costs but prevents </a:t>
            </a:r>
            <a:r>
              <a:rPr lang="en-US" b="1" dirty="0"/>
              <a:t>query queuing</a:t>
            </a:r>
            <a:r>
              <a:rPr lang="en-US" dirty="0"/>
              <a:t>, which is critical for BI dashboards and high SLA workloads.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966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In Snowflake, </a:t>
            </a:r>
            <a:r>
              <a:rPr lang="en-IN" b="1" dirty="0"/>
              <a:t>data storage is automatically managed</a:t>
            </a:r>
            <a:r>
              <a:rPr lang="en-IN" dirty="0"/>
              <a:t> using </a:t>
            </a:r>
            <a:r>
              <a:rPr lang="en-IN" b="1" dirty="0"/>
              <a:t>micro-partitions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micro-partition</a:t>
            </a:r>
            <a:r>
              <a:rPr lang="en-IN" dirty="0"/>
              <a:t> is a </a:t>
            </a:r>
            <a:r>
              <a:rPr lang="en-IN" b="1" dirty="0"/>
              <a:t>contiguous unit of storage</a:t>
            </a:r>
            <a:r>
              <a:rPr lang="en-IN" dirty="0"/>
              <a:t> that holds </a:t>
            </a:r>
            <a:r>
              <a:rPr lang="en-IN" b="1" dirty="0"/>
              <a:t>columns of table data in a compressed, immutable format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automatically organizes, compresses, and manages these micro-partitions behind the scenes.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Micro-partitions are fundamental to </a:t>
            </a:r>
            <a:r>
              <a:rPr lang="en-IN" b="1" dirty="0"/>
              <a:t>Snowflake’s performance, query optimization, and storage efficiency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09C73E-A27C-C974-1C34-DC3F05FD9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051266"/>
              </p:ext>
            </p:extLst>
          </p:nvPr>
        </p:nvGraphicFramePr>
        <p:xfrm>
          <a:off x="792480" y="2942241"/>
          <a:ext cx="10607040" cy="2928207"/>
        </p:xfrm>
        <a:graphic>
          <a:graphicData uri="http://schemas.openxmlformats.org/drawingml/2006/table">
            <a:tbl>
              <a:tblPr/>
              <a:tblGrid>
                <a:gridCol w="3130457">
                  <a:extLst>
                    <a:ext uri="{9D8B030D-6E8A-4147-A177-3AD203B41FA5}">
                      <a16:colId xmlns:a16="http://schemas.microsoft.com/office/drawing/2014/main" val="2590333766"/>
                    </a:ext>
                  </a:extLst>
                </a:gridCol>
                <a:gridCol w="7476583">
                  <a:extLst>
                    <a:ext uri="{9D8B030D-6E8A-4147-A177-3AD203B41FA5}">
                      <a16:colId xmlns:a16="http://schemas.microsoft.com/office/drawing/2014/main" val="62436434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89043"/>
                  </a:ext>
                </a:extLst>
              </a:tr>
              <a:tr h="431895">
                <a:tc>
                  <a:txBody>
                    <a:bodyPr/>
                    <a:lstStyle/>
                    <a:p>
                      <a:r>
                        <a:rPr lang="en-IN" sz="1800" b="1"/>
                        <a:t>Size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Typically 16 MB to 64 MB uncompressed per micro-partition.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80246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lang="en-IN" sz="1800" b="1" dirty="0"/>
                        <a:t>Columnar Storage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is stored </a:t>
                      </a:r>
                      <a:r>
                        <a:rPr lang="en-US" sz="1800" b="1"/>
                        <a:t>column-wise</a:t>
                      </a:r>
                      <a:r>
                        <a:rPr lang="en-US" sz="1800"/>
                        <a:t>, improving compression and query performance.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55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/>
                        <a:t>Immutable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Once written, micro-partitions </a:t>
                      </a:r>
                      <a:r>
                        <a:rPr lang="en-US" sz="1800" b="1"/>
                        <a:t>cannot be changed</a:t>
                      </a:r>
                      <a:r>
                        <a:rPr lang="en-US" sz="1800"/>
                        <a:t>; new data creates new partitions.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58973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IN" sz="1800" b="1" dirty="0"/>
                        <a:t>Automatically Managed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Snowflake handles creation, metadata tracking, and pruning.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915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Metadata Stored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Includes min/max values for each column, row count, and clustering info.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567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8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How Micro-Partitions Work</a:t>
            </a:r>
          </a:p>
          <a:p>
            <a:pPr>
              <a:spcBef>
                <a:spcPts val="600"/>
              </a:spcBef>
            </a:pPr>
            <a:r>
              <a:rPr lang="en-IN" b="1" dirty="0"/>
              <a:t>Data Loading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When data is loaded into a table, Snowflake splits it into </a:t>
            </a:r>
            <a:r>
              <a:rPr lang="en-IN" b="1" dirty="0"/>
              <a:t>micro-partitions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r>
              <a:rPr lang="en-IN" b="1" dirty="0"/>
              <a:t>Columnar Compression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Columns are stored separately for better compression and faster queries.</a:t>
            </a:r>
          </a:p>
          <a:p>
            <a:pPr>
              <a:spcBef>
                <a:spcPts val="600"/>
              </a:spcBef>
            </a:pPr>
            <a:r>
              <a:rPr lang="en-IN" b="1" dirty="0"/>
              <a:t>Metadata Storage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Snowflake maintains metadata for each micro-partition: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Min/Max values of columns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Row count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Deleted/active rows</a:t>
            </a:r>
          </a:p>
          <a:p>
            <a:pPr>
              <a:spcBef>
                <a:spcPts val="600"/>
              </a:spcBef>
            </a:pPr>
            <a:r>
              <a:rPr lang="en-IN" b="1" dirty="0"/>
              <a:t>Query Execution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uses </a:t>
            </a:r>
            <a:r>
              <a:rPr lang="en-IN" b="1" dirty="0"/>
              <a:t>partition pruning</a:t>
            </a:r>
            <a:r>
              <a:rPr lang="en-IN" dirty="0"/>
              <a:t> to skip irrelevant micro-partitions, speeding up queries.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6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Benefits of Micro-Partitions</a:t>
            </a:r>
          </a:p>
          <a:p>
            <a:pPr>
              <a:spcBef>
                <a:spcPts val="600"/>
              </a:spcBef>
            </a:pPr>
            <a:r>
              <a:rPr lang="en-IN" b="1" dirty="0"/>
              <a:t>Performance Optimization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Queries only scan relevant micro-partitions (</a:t>
            </a:r>
            <a:r>
              <a:rPr lang="en-IN" b="1" dirty="0"/>
              <a:t>pruning</a:t>
            </a:r>
            <a:r>
              <a:rPr lang="en-IN" dirty="0"/>
              <a:t>), reducing I/O.</a:t>
            </a:r>
          </a:p>
          <a:p>
            <a:pPr>
              <a:spcBef>
                <a:spcPts val="600"/>
              </a:spcBef>
            </a:pPr>
            <a:r>
              <a:rPr lang="en-IN" b="1" dirty="0"/>
              <a:t>Efficient Storage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Columnar storage + automatic compression reduces storage usage.</a:t>
            </a:r>
          </a:p>
          <a:p>
            <a:pPr>
              <a:spcBef>
                <a:spcPts val="600"/>
              </a:spcBef>
            </a:pPr>
            <a:r>
              <a:rPr lang="en-IN" b="1" dirty="0"/>
              <a:t>Automatic Clustering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Micro-partitions are created in order of insertion, aiding query performance without manual indexing.</a:t>
            </a:r>
          </a:p>
          <a:p>
            <a:pPr>
              <a:spcBef>
                <a:spcPts val="600"/>
              </a:spcBef>
            </a:pPr>
            <a:r>
              <a:rPr lang="en-IN" b="1" dirty="0"/>
              <a:t>Supports Time Travel &amp; Fail-safe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Versioned micro-partitions enable </a:t>
            </a:r>
            <a:r>
              <a:rPr lang="en-IN" b="1" dirty="0"/>
              <a:t>Time Travel</a:t>
            </a:r>
            <a:r>
              <a:rPr lang="en-IN" dirty="0"/>
              <a:t> and </a:t>
            </a:r>
            <a:r>
              <a:rPr lang="en-IN" b="1" dirty="0"/>
              <a:t>data recovery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780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Partition Pruning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Partition pruning is the process where Snowflake scans only relevant micro-partitions based on query filters.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Example: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Table: SALES with 1 million rows.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Query: SELECT * FROM SALES WHERE YEAR=2024;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Snowflake checks metadata of micro-partitions and scans only those containing 2024.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Result: Faster query execution and reduced compute usage.</a:t>
            </a:r>
          </a:p>
        </p:txBody>
      </p:sp>
    </p:spTree>
    <p:extLst>
      <p:ext uri="{BB962C8B-B14F-4D97-AF65-F5344CB8AC3E}">
        <p14:creationId xmlns:p14="http://schemas.microsoft.com/office/powerpoint/2010/main" val="2928515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252322" y="1043168"/>
            <a:ext cx="9531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Stage</a:t>
            </a:r>
            <a:r>
              <a:rPr lang="en-US" dirty="0"/>
              <a:t> is a </a:t>
            </a:r>
            <a:r>
              <a:rPr lang="en-US" b="1" dirty="0"/>
              <a:t>location where data files are stored (staged)</a:t>
            </a:r>
            <a:r>
              <a:rPr lang="en-US" dirty="0"/>
              <a:t> before being loaded into Snowflake tables or after being unloaded from them.</a:t>
            </a:r>
          </a:p>
          <a:p>
            <a:r>
              <a:rPr lang="en-US" dirty="0"/>
              <a:t>Stages act as an </a:t>
            </a:r>
            <a:r>
              <a:rPr lang="en-US" b="1" dirty="0"/>
              <a:t>intermediate storage area</a:t>
            </a:r>
            <a:r>
              <a:rPr lang="en-US" dirty="0"/>
              <a:t> — they can be internal to Snowflake or external (like S3, Azure Blob, or GCS).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What is a Stage in Snowflake?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1B1009-BFF9-84BA-D5E2-7CDC96AD8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51016"/>
              </p:ext>
            </p:extLst>
          </p:nvPr>
        </p:nvGraphicFramePr>
        <p:xfrm>
          <a:off x="347472" y="2844281"/>
          <a:ext cx="10131426" cy="28346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072535493"/>
                    </a:ext>
                  </a:extLst>
                </a:gridCol>
                <a:gridCol w="3910626">
                  <a:extLst>
                    <a:ext uri="{9D8B030D-6E8A-4147-A177-3AD203B41FA5}">
                      <a16:colId xmlns:a16="http://schemas.microsoft.com/office/drawing/2014/main" val="1235685477"/>
                    </a:ext>
                  </a:extLst>
                </a:gridCol>
                <a:gridCol w="2843658">
                  <a:extLst>
                    <a:ext uri="{9D8B030D-6E8A-4147-A177-3AD203B41FA5}">
                      <a16:colId xmlns:a16="http://schemas.microsoft.com/office/drawing/2014/main" val="34897750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Type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Example / URL Format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5912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User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Automatically created for every user. Each user has a personal stage (@~).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40557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Table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created for every table. Used to stage files specific to that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@%table_name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3406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Named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Created explicitly by users. Can be internal or external.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@my_stage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863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D25F7D-B96A-9FB7-4328-BDE3641E90D4}"/>
              </a:ext>
            </a:extLst>
          </p:cNvPr>
          <p:cNvSpPr txBox="1"/>
          <p:nvPr/>
        </p:nvSpPr>
        <p:spPr>
          <a:xfrm>
            <a:off x="252322" y="2227068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Stages in Snowflake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35955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252322" y="1043168"/>
            <a:ext cx="9531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Stage</a:t>
            </a:r>
            <a:r>
              <a:rPr lang="en-US" dirty="0"/>
              <a:t> is a </a:t>
            </a:r>
            <a:r>
              <a:rPr lang="en-US" b="1" dirty="0"/>
              <a:t>location where data files are stored (staged)</a:t>
            </a:r>
            <a:r>
              <a:rPr lang="en-US" dirty="0"/>
              <a:t> before being loaded into Snowflake tables or after being unloaded from them.</a:t>
            </a:r>
          </a:p>
          <a:p>
            <a:r>
              <a:rPr lang="en-US" dirty="0"/>
              <a:t>Stages act as an </a:t>
            </a:r>
            <a:r>
              <a:rPr lang="en-US" b="1" dirty="0"/>
              <a:t>intermediate storage area</a:t>
            </a:r>
            <a:r>
              <a:rPr lang="en-US" dirty="0"/>
              <a:t> — they can be internal to Snowflake or external (like S3, Azure Blob, or GCS).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Stage in Snowflake?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1B1009-BFF9-84BA-D5E2-7CDC96AD81EE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2844281"/>
          <a:ext cx="10131426" cy="28346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072535493"/>
                    </a:ext>
                  </a:extLst>
                </a:gridCol>
                <a:gridCol w="3910626">
                  <a:extLst>
                    <a:ext uri="{9D8B030D-6E8A-4147-A177-3AD203B41FA5}">
                      <a16:colId xmlns:a16="http://schemas.microsoft.com/office/drawing/2014/main" val="1235685477"/>
                    </a:ext>
                  </a:extLst>
                </a:gridCol>
                <a:gridCol w="2843658">
                  <a:extLst>
                    <a:ext uri="{9D8B030D-6E8A-4147-A177-3AD203B41FA5}">
                      <a16:colId xmlns:a16="http://schemas.microsoft.com/office/drawing/2014/main" val="34897750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Type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Example / URL Format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5912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User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Automatically created for every user. Each user has a personal stage (@~).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40557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Table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created for every table. Used to stage files specific to that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@%table_name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3406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Named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Created explicitly by users. Can be internal or external.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@my_stage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863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D25F7D-B96A-9FB7-4328-BDE3641E90D4}"/>
              </a:ext>
            </a:extLst>
          </p:cNvPr>
          <p:cNvSpPr txBox="1"/>
          <p:nvPr/>
        </p:nvSpPr>
        <p:spPr>
          <a:xfrm>
            <a:off x="252322" y="2227068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Stages in Snowflake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61119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9531758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Snowflake offers multiple </a:t>
            </a:r>
            <a:r>
              <a:rPr lang="en-US" b="1" dirty="0"/>
              <a:t>table types</a:t>
            </a:r>
            <a:r>
              <a:rPr lang="en-US" dirty="0"/>
              <a:t> to store and manage data efficiently based on how long the data should persist and how it will be used.</a:t>
            </a:r>
          </a:p>
          <a:p>
            <a:pPr>
              <a:spcBef>
                <a:spcPts val="600"/>
              </a:spcBef>
            </a:pPr>
            <a:r>
              <a:rPr lang="en-US" dirty="0"/>
              <a:t>Each table type determines: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Where the data is stored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How long it is retained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Whether it supports Time Travel and Fail-safe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cost of storage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4E1F24-63F3-25F7-699B-76C020680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48171"/>
              </p:ext>
            </p:extLst>
          </p:nvPr>
        </p:nvGraphicFramePr>
        <p:xfrm>
          <a:off x="339852" y="3429000"/>
          <a:ext cx="11512296" cy="2651760"/>
        </p:xfrm>
        <a:graphic>
          <a:graphicData uri="http://schemas.openxmlformats.org/drawingml/2006/table">
            <a:tbl>
              <a:tblPr/>
              <a:tblGrid>
                <a:gridCol w="2172851">
                  <a:extLst>
                    <a:ext uri="{9D8B030D-6E8A-4147-A177-3AD203B41FA5}">
                      <a16:colId xmlns:a16="http://schemas.microsoft.com/office/drawing/2014/main" val="475696852"/>
                    </a:ext>
                  </a:extLst>
                </a:gridCol>
                <a:gridCol w="3613777">
                  <a:extLst>
                    <a:ext uri="{9D8B030D-6E8A-4147-A177-3AD203B41FA5}">
                      <a16:colId xmlns:a16="http://schemas.microsoft.com/office/drawing/2014/main" val="3869688238"/>
                    </a:ext>
                  </a:extLst>
                </a:gridCol>
                <a:gridCol w="2847594">
                  <a:extLst>
                    <a:ext uri="{9D8B030D-6E8A-4147-A177-3AD203B41FA5}">
                      <a16:colId xmlns:a16="http://schemas.microsoft.com/office/drawing/2014/main" val="1223707497"/>
                    </a:ext>
                  </a:extLst>
                </a:gridCol>
                <a:gridCol w="2878074">
                  <a:extLst>
                    <a:ext uri="{9D8B030D-6E8A-4147-A177-3AD203B41FA5}">
                      <a16:colId xmlns:a16="http://schemas.microsoft.com/office/drawing/2014/main" val="322783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Table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Storage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Key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587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Permanent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Long-term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Snowflake internal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Production and business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230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Transient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Snowflake internal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Staging and ETL intermediate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213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Temporary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Session-only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Snowflake internal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Session-level computations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337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External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 storage (S3 / Azure / GCS)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Outside Snowflake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Query data in data lakes without loading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220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759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11580014" cy="694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Permanent Tables</a:t>
            </a:r>
          </a:p>
          <a:p>
            <a:pPr>
              <a:spcBef>
                <a:spcPts val="600"/>
              </a:spcBef>
            </a:pPr>
            <a:r>
              <a:rPr lang="en-US" dirty="0"/>
              <a:t>A </a:t>
            </a:r>
            <a:r>
              <a:rPr lang="en-US" i="1" dirty="0"/>
              <a:t>Permanent Table</a:t>
            </a:r>
            <a:r>
              <a:rPr lang="en-US" dirty="0"/>
              <a:t> is the </a:t>
            </a:r>
            <a:r>
              <a:rPr lang="en-US" b="1" dirty="0"/>
              <a:t>default table type</a:t>
            </a:r>
            <a:r>
              <a:rPr lang="en-US" dirty="0"/>
              <a:t> in Snowflake used for long-term storage of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persists until explicitly dropped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Time Travel (up to 90 days)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Fail-safe (7 days)</a:t>
            </a:r>
            <a:r>
              <a:rPr lang="en-US" dirty="0"/>
              <a:t> for disaster recovery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Ideal for critical and historical data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CREATE OR REPLACE TABLE </a:t>
            </a:r>
            <a:r>
              <a:rPr lang="en-US" dirty="0" err="1"/>
              <a:t>sales_data</a:t>
            </a:r>
            <a:r>
              <a:rPr lang="en-US" dirty="0"/>
              <a:t> (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product_name</a:t>
            </a:r>
            <a:r>
              <a:rPr lang="en-US" dirty="0"/>
              <a:t> STRING,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amount NUMBER(10,2),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order_date</a:t>
            </a:r>
            <a:r>
              <a:rPr lang="en-US" dirty="0"/>
              <a:t> DATE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) DATA_RETENTION_TIME_IN_DAYS = 5;</a:t>
            </a:r>
          </a:p>
          <a:p>
            <a:endParaRPr lang="en-US" b="1" dirty="0"/>
          </a:p>
          <a:p>
            <a:r>
              <a:rPr lang="en-US" b="1" dirty="0"/>
              <a:t>Use Cases: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Business-critical datasets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Analytical and reporting layers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Historical and audit data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495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1158001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Transient Tables</a:t>
            </a:r>
          </a:p>
          <a:p>
            <a:br>
              <a:rPr lang="en-US" dirty="0"/>
            </a:br>
            <a:r>
              <a:rPr lang="en-US" dirty="0"/>
              <a:t>A </a:t>
            </a:r>
            <a:r>
              <a:rPr lang="en-US" i="1" dirty="0"/>
              <a:t>Transient Table</a:t>
            </a:r>
            <a:r>
              <a:rPr lang="en-US" dirty="0"/>
              <a:t> stores data persistently like a permanent table but </a:t>
            </a:r>
            <a:r>
              <a:rPr lang="en-US" b="1" dirty="0"/>
              <a:t>does not have a Fail-safe period</a:t>
            </a:r>
            <a:r>
              <a:rPr lang="en-US" dirty="0"/>
              <a:t>, reducing cost and recovery time.</a:t>
            </a:r>
          </a:p>
          <a:p>
            <a:pPr lvl="1"/>
            <a:r>
              <a:rPr lang="en-US" b="1" dirty="0"/>
              <a:t>Features: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No Fail-safe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Time Travel up to 1 day</a:t>
            </a:r>
            <a:r>
              <a:rPr lang="en-US" dirty="0"/>
              <a:t> (default)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Less storage cost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Persists beyond a user session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CEATE OR REPLACE TRANSIENT TABLE </a:t>
            </a:r>
            <a:r>
              <a:rPr lang="en-US" dirty="0" err="1"/>
              <a:t>sales_data</a:t>
            </a:r>
            <a:r>
              <a:rPr lang="en-US" dirty="0"/>
              <a:t> (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 INT,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product_name</a:t>
            </a:r>
            <a:r>
              <a:rPr lang="en-US" dirty="0"/>
              <a:t> STRING,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amount NUMBER(10,2),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order_date</a:t>
            </a:r>
            <a:r>
              <a:rPr lang="en-US" dirty="0"/>
              <a:t> DATE);</a:t>
            </a:r>
          </a:p>
          <a:p>
            <a:endParaRPr lang="en-US" b="1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38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115800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DA892-9F5C-CF04-FF80-5008B2C81F37}"/>
              </a:ext>
            </a:extLst>
          </p:cNvPr>
          <p:cNvSpPr txBox="1"/>
          <p:nvPr/>
        </p:nvSpPr>
        <p:spPr>
          <a:xfrm>
            <a:off x="151738" y="723126"/>
            <a:ext cx="1057417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Temporary Tables</a:t>
            </a:r>
          </a:p>
          <a:p>
            <a:endParaRPr lang="en-IN" dirty="0"/>
          </a:p>
          <a:p>
            <a:r>
              <a:rPr lang="en-IN" dirty="0"/>
              <a:t>Definition:</a:t>
            </a:r>
          </a:p>
          <a:p>
            <a:r>
              <a:rPr lang="en-IN" dirty="0"/>
              <a:t>A Temporary Table exists only within a user session and is automatically dropped when the session ends.</a:t>
            </a:r>
          </a:p>
          <a:p>
            <a:endParaRPr lang="en-IN" dirty="0"/>
          </a:p>
          <a:p>
            <a:r>
              <a:rPr lang="en-IN" dirty="0"/>
              <a:t>Features: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Session-specific: only visible to the creator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No Time Travel and no Fail-safe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Ideal for intermediate transformations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Lower storage cost</a:t>
            </a:r>
          </a:p>
          <a:p>
            <a:endParaRPr lang="en-IN" dirty="0"/>
          </a:p>
          <a:p>
            <a:r>
              <a:rPr lang="en-IN" dirty="0"/>
              <a:t>Syntax:</a:t>
            </a:r>
          </a:p>
          <a:p>
            <a:endParaRPr lang="en-IN" dirty="0"/>
          </a:p>
          <a:p>
            <a:r>
              <a:rPr lang="en-IN" dirty="0"/>
              <a:t>CREATE TEMPORARY TABLE </a:t>
            </a:r>
            <a:r>
              <a:rPr lang="en-IN" dirty="0" err="1"/>
              <a:t>session_data</a:t>
            </a:r>
            <a:r>
              <a:rPr lang="en-IN" dirty="0"/>
              <a:t> (</a:t>
            </a:r>
          </a:p>
          <a:p>
            <a:r>
              <a:rPr lang="en-IN" dirty="0"/>
              <a:t>    </a:t>
            </a:r>
            <a:r>
              <a:rPr lang="en-IN" dirty="0" err="1"/>
              <a:t>user_id</a:t>
            </a:r>
            <a:r>
              <a:rPr lang="en-IN" dirty="0"/>
              <a:t> INT,</a:t>
            </a:r>
          </a:p>
          <a:p>
            <a:r>
              <a:rPr lang="en-IN" dirty="0"/>
              <a:t>    </a:t>
            </a:r>
            <a:r>
              <a:rPr lang="en-IN" dirty="0" err="1"/>
              <a:t>page_views</a:t>
            </a:r>
            <a:r>
              <a:rPr lang="en-IN" dirty="0"/>
              <a:t> INT,</a:t>
            </a:r>
          </a:p>
          <a:p>
            <a:r>
              <a:rPr lang="en-IN" dirty="0"/>
              <a:t>    </a:t>
            </a:r>
            <a:r>
              <a:rPr lang="en-IN" dirty="0" err="1"/>
              <a:t>login_date</a:t>
            </a:r>
            <a:r>
              <a:rPr lang="en-IN" dirty="0"/>
              <a:t> DATE</a:t>
            </a:r>
          </a:p>
          <a:p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87237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EFFE1-758C-BBA8-1DAF-03EF3CC690EF}"/>
              </a:ext>
            </a:extLst>
          </p:cNvPr>
          <p:cNvSpPr txBox="1"/>
          <p:nvPr/>
        </p:nvSpPr>
        <p:spPr>
          <a:xfrm>
            <a:off x="242316" y="828765"/>
            <a:ext cx="115900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External Tables</a:t>
            </a:r>
          </a:p>
          <a:p>
            <a:endParaRPr lang="en-IN" dirty="0"/>
          </a:p>
          <a:p>
            <a:r>
              <a:rPr lang="en-IN" dirty="0"/>
              <a:t>Definition:</a:t>
            </a:r>
          </a:p>
          <a:p>
            <a:r>
              <a:rPr lang="en-IN" dirty="0"/>
              <a:t>An External Table references data stored outside Snowflake, such as AWS S3, Azure Blob Storage, or Google Cloud Storage.</a:t>
            </a:r>
          </a:p>
          <a:p>
            <a:r>
              <a:rPr lang="en-IN" dirty="0"/>
              <a:t>Snowflake queries the data without physically loading it, using metadata and file formats.</a:t>
            </a:r>
          </a:p>
          <a:p>
            <a:endParaRPr lang="en-IN" dirty="0"/>
          </a:p>
          <a:p>
            <a:r>
              <a:rPr lang="en-IN" dirty="0"/>
              <a:t>Features: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Data resides in external cloud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Can use External Stages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Read-only (cannot INSERT or UPDATE)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Can join with internal tables</a:t>
            </a:r>
          </a:p>
          <a:p>
            <a:endParaRPr lang="en-IN" dirty="0"/>
          </a:p>
          <a:p>
            <a:r>
              <a:rPr lang="en-IN" dirty="0"/>
              <a:t>Syntax:</a:t>
            </a:r>
          </a:p>
          <a:p>
            <a:endParaRPr lang="en-IN" dirty="0"/>
          </a:p>
          <a:p>
            <a:r>
              <a:rPr lang="en-IN" dirty="0"/>
              <a:t>CREATE OR REPLACE EXTERNAL TABLE </a:t>
            </a:r>
            <a:r>
              <a:rPr lang="en-IN" dirty="0" err="1"/>
              <a:t>ext_orders</a:t>
            </a:r>
            <a:r>
              <a:rPr lang="en-IN" dirty="0"/>
              <a:t> (</a:t>
            </a:r>
          </a:p>
          <a:p>
            <a:r>
              <a:rPr lang="en-IN" dirty="0"/>
              <a:t>    </a:t>
            </a:r>
            <a:r>
              <a:rPr lang="en-IN" dirty="0" err="1"/>
              <a:t>order_id</a:t>
            </a:r>
            <a:r>
              <a:rPr lang="en-IN" dirty="0"/>
              <a:t> INT AS (VALUE:c1::INT),</a:t>
            </a:r>
          </a:p>
          <a:p>
            <a:r>
              <a:rPr lang="en-IN" dirty="0"/>
              <a:t>    </a:t>
            </a:r>
            <a:r>
              <a:rPr lang="en-IN" dirty="0" err="1"/>
              <a:t>customer_name</a:t>
            </a:r>
            <a:r>
              <a:rPr lang="en-IN" dirty="0"/>
              <a:t> STRING AS (VALUE:c2::STRING),</a:t>
            </a:r>
          </a:p>
          <a:p>
            <a:r>
              <a:rPr lang="en-IN" dirty="0"/>
              <a:t>    amount NUMBER AS (VALUE:c3::NUMBER)</a:t>
            </a:r>
          </a:p>
          <a:p>
            <a:r>
              <a:rPr lang="en-IN" dirty="0"/>
              <a:t>) WITH LOCATION = @my_s3_stage/orders/</a:t>
            </a:r>
          </a:p>
          <a:p>
            <a:r>
              <a:rPr lang="en-IN" dirty="0"/>
              <a:t>FILE_FORMAT = (TYPE = CSV SKIP_HEADER = 1);</a:t>
            </a:r>
          </a:p>
        </p:txBody>
      </p:sp>
    </p:spTree>
    <p:extLst>
      <p:ext uri="{BB962C8B-B14F-4D97-AF65-F5344CB8AC3E}">
        <p14:creationId xmlns:p14="http://schemas.microsoft.com/office/powerpoint/2010/main" val="3787829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736096-6000-C57D-3406-0AD539B76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448156"/>
              </p:ext>
            </p:extLst>
          </p:nvPr>
        </p:nvGraphicFramePr>
        <p:xfrm>
          <a:off x="402336" y="1086009"/>
          <a:ext cx="10131425" cy="3474720"/>
        </p:xfrm>
        <a:graphic>
          <a:graphicData uri="http://schemas.openxmlformats.org/drawingml/2006/table">
            <a:tbl>
              <a:tblPr/>
              <a:tblGrid>
                <a:gridCol w="2026285">
                  <a:extLst>
                    <a:ext uri="{9D8B030D-6E8A-4147-A177-3AD203B41FA5}">
                      <a16:colId xmlns:a16="http://schemas.microsoft.com/office/drawing/2014/main" val="1389339661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437182615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977013881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082602564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159706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Permanent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Transient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Temporary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External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680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Persistence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Permanent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Session-only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853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Fail-safe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Yes (7 days)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457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Time Travel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 to 90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Up to 1 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45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Storage Location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142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Visibility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users (based on privileges)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users (based on privileges)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05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Cost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165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Use Case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Production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Staging/ETL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 computations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lake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53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324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Materialized 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D7E096-3CB3-B912-A708-20A7ABC88EDF}"/>
              </a:ext>
            </a:extLst>
          </p:cNvPr>
          <p:cNvSpPr txBox="1"/>
          <p:nvPr/>
        </p:nvSpPr>
        <p:spPr>
          <a:xfrm>
            <a:off x="128016" y="896111"/>
            <a:ext cx="112654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Materialized View (MV) in Snowflake is a precomputed, stored result set of a query.</a:t>
            </a:r>
          </a:p>
          <a:p>
            <a:r>
              <a:rPr lang="en-IN" dirty="0"/>
              <a:t>Unlike a regular view (which runs the query each time), an MV stores the data physically and automatically refreshes when the base table changes.</a:t>
            </a:r>
          </a:p>
          <a:p>
            <a:endParaRPr lang="en-IN" dirty="0"/>
          </a:p>
          <a:p>
            <a:r>
              <a:rPr lang="en-IN" dirty="0"/>
              <a:t>🔹 Key Features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Precomputed data → Faster query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Automatic refresh → Reflects source table changes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Storage cost applies → Since results are stored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Used for → Dashboards, aggregations, reporting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Limitations → Can’t reference other MVs or use non-deterministic functions</a:t>
            </a:r>
          </a:p>
          <a:p>
            <a:endParaRPr lang="en-IN" dirty="0"/>
          </a:p>
          <a:p>
            <a:r>
              <a:rPr lang="en-IN" dirty="0"/>
              <a:t>CREATE OR REPLACE MATERIALIZED VIEW </a:t>
            </a:r>
            <a:r>
              <a:rPr lang="en-IN" dirty="0" err="1"/>
              <a:t>mv_sales_summary</a:t>
            </a:r>
            <a:r>
              <a:rPr lang="en-IN" dirty="0"/>
              <a:t> AS</a:t>
            </a:r>
          </a:p>
          <a:p>
            <a:r>
              <a:rPr lang="en-IN" dirty="0"/>
              <a:t>SELECT </a:t>
            </a:r>
          </a:p>
          <a:p>
            <a:r>
              <a:rPr lang="en-IN" dirty="0"/>
              <a:t>    region,</a:t>
            </a:r>
          </a:p>
          <a:p>
            <a:r>
              <a:rPr lang="en-IN" dirty="0"/>
              <a:t>    </a:t>
            </a:r>
            <a:r>
              <a:rPr lang="en-IN" dirty="0" err="1"/>
              <a:t>product_category</a:t>
            </a:r>
            <a:r>
              <a:rPr lang="en-IN" dirty="0"/>
              <a:t>,</a:t>
            </a:r>
          </a:p>
          <a:p>
            <a:r>
              <a:rPr lang="en-IN" dirty="0"/>
              <a:t>    SUM(</a:t>
            </a:r>
            <a:r>
              <a:rPr lang="en-IN" dirty="0" err="1"/>
              <a:t>sales_amount</a:t>
            </a:r>
            <a:r>
              <a:rPr lang="en-IN" dirty="0"/>
              <a:t>) AS </a:t>
            </a:r>
            <a:r>
              <a:rPr lang="en-IN" dirty="0" err="1"/>
              <a:t>total_sales</a:t>
            </a:r>
            <a:r>
              <a:rPr lang="en-IN" dirty="0"/>
              <a:t>,</a:t>
            </a:r>
          </a:p>
          <a:p>
            <a:r>
              <a:rPr lang="en-IN" dirty="0"/>
              <a:t>    COUNT(*) AS </a:t>
            </a:r>
            <a:r>
              <a:rPr lang="en-IN" dirty="0" err="1"/>
              <a:t>total_orders</a:t>
            </a:r>
            <a:endParaRPr lang="en-IN" dirty="0"/>
          </a:p>
          <a:p>
            <a:r>
              <a:rPr lang="en-IN" dirty="0"/>
              <a:t>FROM sales</a:t>
            </a:r>
          </a:p>
          <a:p>
            <a:r>
              <a:rPr lang="en-IN" dirty="0"/>
              <a:t>GROUP BY region, </a:t>
            </a:r>
            <a:r>
              <a:rPr lang="en-IN" dirty="0" err="1"/>
              <a:t>product_category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21250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Materialized 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DFB3AB-05D8-6F02-FC2B-373E9DF7B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67526"/>
              </p:ext>
            </p:extLst>
          </p:nvPr>
        </p:nvGraphicFramePr>
        <p:xfrm>
          <a:off x="246888" y="1325785"/>
          <a:ext cx="10131424" cy="17373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293115992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9046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9012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Show MVs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SHOW MATERIALIZED VIEWS;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4243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Drop MV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DROP MATERIALIZED VIEW mv_sales_summary;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81853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dirty="0"/>
                        <a:t>Refresh manually (rarely needed)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ALTER MATERIALIZED VIEW </a:t>
                      </a:r>
                      <a:r>
                        <a:rPr lang="en-US" sz="1800" dirty="0" err="1"/>
                        <a:t>mv_sales_summary</a:t>
                      </a:r>
                      <a:r>
                        <a:rPr lang="en-US" sz="1800" dirty="0"/>
                        <a:t> REFRESH;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499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03E4E6-4658-D392-86F4-B2347BD75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44652"/>
              </p:ext>
            </p:extLst>
          </p:nvPr>
        </p:nvGraphicFramePr>
        <p:xfrm>
          <a:off x="246888" y="4072747"/>
          <a:ext cx="10131426" cy="182880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34626983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069705184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40434898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Regular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Materialized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6377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Logical (no storage)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Physical (stored)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2083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Executes query every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Precomputed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5816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Auto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2731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Only 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Compute +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0349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Manage Materialized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02E85-9B19-C4A1-DB3B-C970964F1235}"/>
              </a:ext>
            </a:extLst>
          </p:cNvPr>
          <p:cNvSpPr txBox="1"/>
          <p:nvPr/>
        </p:nvSpPr>
        <p:spPr>
          <a:xfrm>
            <a:off x="246888" y="3610190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Benefits vs Regular Views</a:t>
            </a:r>
          </a:p>
        </p:txBody>
      </p:sp>
    </p:spTree>
    <p:extLst>
      <p:ext uri="{BB962C8B-B14F-4D97-AF65-F5344CB8AC3E}">
        <p14:creationId xmlns:p14="http://schemas.microsoft.com/office/powerpoint/2010/main" val="17984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Materialized 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84810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SELECT </a:t>
            </a:r>
          </a:p>
          <a:p>
            <a:r>
              <a:rPr lang="en-IN" dirty="0"/>
              <a:t>    DATABASE_NAME,</a:t>
            </a:r>
          </a:p>
          <a:p>
            <a:r>
              <a:rPr lang="en-IN" dirty="0"/>
              <a:t>    SCHEMA_NAME,</a:t>
            </a:r>
          </a:p>
          <a:p>
            <a:r>
              <a:rPr lang="en-IN" dirty="0"/>
              <a:t>    MATERIALIZED_VIEW_NAME,</a:t>
            </a:r>
          </a:p>
          <a:p>
            <a:r>
              <a:rPr lang="en-IN" dirty="0"/>
              <a:t>    START_TIME,</a:t>
            </a:r>
          </a:p>
          <a:p>
            <a:r>
              <a:rPr lang="en-IN" dirty="0"/>
              <a:t>    END_TIME,</a:t>
            </a:r>
          </a:p>
          <a:p>
            <a:r>
              <a:rPr lang="en-IN" dirty="0"/>
              <a:t>    CREDITS_USED,</a:t>
            </a:r>
          </a:p>
          <a:p>
            <a:r>
              <a:rPr lang="en-IN" dirty="0"/>
              <a:t>    ROWS_INSERTED,</a:t>
            </a:r>
          </a:p>
          <a:p>
            <a:r>
              <a:rPr lang="en-IN" dirty="0"/>
              <a:t>    ROWS_DELETED,</a:t>
            </a:r>
          </a:p>
          <a:p>
            <a:r>
              <a:rPr lang="en-IN" dirty="0"/>
              <a:t>    STATUS</a:t>
            </a:r>
          </a:p>
          <a:p>
            <a:r>
              <a:rPr lang="en-IN" dirty="0"/>
              <a:t>FROM SNOWFLAKE.ACCOUNT_USAGE.MATERIALIZED_VIEW_REFRESH_HISTORY</a:t>
            </a:r>
          </a:p>
          <a:p>
            <a:r>
              <a:rPr lang="en-IN" dirty="0"/>
              <a:t>WHERE MATERIALIZED_VIEW_NAME = 'MV_SALES_SUMMARY'</a:t>
            </a:r>
          </a:p>
          <a:p>
            <a:r>
              <a:rPr lang="en-IN" dirty="0"/>
              <a:t>ORDER BY START_TIME DESC;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12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Snowpark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Snowpark</a:t>
            </a:r>
            <a:r>
              <a:rPr lang="en-US" dirty="0"/>
              <a:t> is a developer framework that allows data engineers, data scientists, and developers to </a:t>
            </a:r>
            <a:r>
              <a:rPr lang="en-US" b="1" dirty="0"/>
              <a:t>write code in Python, Java, or Scala</a:t>
            </a:r>
            <a:r>
              <a:rPr lang="en-US" dirty="0"/>
              <a:t> and execute it </a:t>
            </a:r>
            <a:r>
              <a:rPr lang="en-US" b="1" dirty="0"/>
              <a:t>directly inside Snowflake’s compute engine</a:t>
            </a:r>
            <a:r>
              <a:rPr lang="en-US" dirty="0"/>
              <a:t>, without moving data out of Snowflake.</a:t>
            </a:r>
          </a:p>
          <a:p>
            <a:endParaRPr lang="en-US" dirty="0"/>
          </a:p>
          <a:p>
            <a:r>
              <a:rPr lang="en-US" b="1" dirty="0"/>
              <a:t>Key Features</a:t>
            </a:r>
            <a:endParaRPr lang="en-IN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1D02BB-1411-7F64-2180-15B1432C6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547614"/>
              </p:ext>
            </p:extLst>
          </p:nvPr>
        </p:nvGraphicFramePr>
        <p:xfrm>
          <a:off x="281352" y="2430912"/>
          <a:ext cx="10590864" cy="3676377"/>
        </p:xfrm>
        <a:graphic>
          <a:graphicData uri="http://schemas.openxmlformats.org/drawingml/2006/table">
            <a:tbl>
              <a:tblPr/>
              <a:tblGrid>
                <a:gridCol w="3559128">
                  <a:extLst>
                    <a:ext uri="{9D8B030D-6E8A-4147-A177-3AD203B41FA5}">
                      <a16:colId xmlns:a16="http://schemas.microsoft.com/office/drawing/2014/main" val="4091234881"/>
                    </a:ext>
                  </a:extLst>
                </a:gridCol>
                <a:gridCol w="7031736">
                  <a:extLst>
                    <a:ext uri="{9D8B030D-6E8A-4147-A177-3AD203B41FA5}">
                      <a16:colId xmlns:a16="http://schemas.microsoft.com/office/drawing/2014/main" val="1244998932"/>
                    </a:ext>
                  </a:extLst>
                </a:gridCol>
              </a:tblGrid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Feature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Description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30405"/>
                  </a:ext>
                </a:extLst>
              </a:tr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🧩 </a:t>
                      </a:r>
                      <a:r>
                        <a:rPr lang="en-IN" sz="1700" b="1"/>
                        <a:t>Multi-language support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Write in </a:t>
                      </a:r>
                      <a:r>
                        <a:rPr lang="en-US" sz="1700" b="1"/>
                        <a:t>Python, Scala, Java</a:t>
                      </a:r>
                      <a:r>
                        <a:rPr lang="en-US" sz="1700"/>
                        <a:t> (with Snowpark APIs).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354295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💾 </a:t>
                      </a:r>
                      <a:r>
                        <a:rPr lang="en-IN" sz="1700" b="1"/>
                        <a:t>In-database compute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All transformations and ML operations execute inside Snowflake (no data egress).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53082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 dirty="0"/>
                        <a:t>🧠 </a:t>
                      </a:r>
                      <a:r>
                        <a:rPr lang="en-IN" sz="1700" b="1" dirty="0"/>
                        <a:t>Unified </a:t>
                      </a:r>
                      <a:r>
                        <a:rPr lang="en-IN" sz="1700" b="1" dirty="0" err="1"/>
                        <a:t>DataFrame</a:t>
                      </a:r>
                      <a:r>
                        <a:rPr lang="en-IN" sz="1700" b="1" dirty="0"/>
                        <a:t> API</a:t>
                      </a:r>
                      <a:endParaRPr lang="en-IN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Similar to pandas or Spark — supports select, filter, group_by, etc.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064156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⚡ </a:t>
                      </a:r>
                      <a:r>
                        <a:rPr lang="en-IN" sz="1700" b="1"/>
                        <a:t>Serverless execution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Runs inside Snowflake’s engine — secure, scalable, no infrastructure management.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25753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US" sz="1700" dirty="0"/>
                        <a:t>🔍 </a:t>
                      </a:r>
                      <a:r>
                        <a:rPr lang="en-US" sz="1700" b="1" dirty="0"/>
                        <a:t>UDFs and Stored Procedures</a:t>
                      </a:r>
                      <a:endParaRPr lang="en-US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Register and execute Python/Java/Scala functions natively in Snowflake.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469910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🔄 </a:t>
                      </a:r>
                      <a:r>
                        <a:rPr lang="en-IN" sz="1700" b="1"/>
                        <a:t>Seamless integration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Works with </a:t>
                      </a:r>
                      <a:r>
                        <a:rPr lang="en-US" sz="1700" b="1" dirty="0"/>
                        <a:t>Snowflake Notebooks, Tasks, Streams, and Pipelines</a:t>
                      </a:r>
                      <a:r>
                        <a:rPr lang="en-US" sz="1700" dirty="0"/>
                        <a:t>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745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101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Snowpark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Architecture Overview</a:t>
            </a:r>
          </a:p>
          <a:p>
            <a:pPr>
              <a:spcBef>
                <a:spcPts val="600"/>
              </a:spcBef>
            </a:pPr>
            <a:r>
              <a:rPr lang="en-IN" b="1" dirty="0"/>
              <a:t> Client Code → Snowpark API → Snowflake Engine → Data in Snowflake</a:t>
            </a: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Snowpark API</a:t>
            </a:r>
            <a:r>
              <a:rPr lang="en-IN" dirty="0"/>
              <a:t> builds a </a:t>
            </a:r>
            <a:r>
              <a:rPr lang="en-IN" b="1" dirty="0"/>
              <a:t>logical query plan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</a:t>
            </a:r>
            <a:r>
              <a:rPr lang="en-IN" b="1" dirty="0"/>
              <a:t>optimizes and executes</a:t>
            </a:r>
            <a:r>
              <a:rPr lang="en-IN" dirty="0"/>
              <a:t> it internally (same as SQL).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Results are returned as </a:t>
            </a:r>
            <a:r>
              <a:rPr lang="en-IN" b="1" dirty="0"/>
              <a:t>Snowpark </a:t>
            </a:r>
            <a:r>
              <a:rPr lang="en-IN" b="1" dirty="0" err="1"/>
              <a:t>DataFrames</a:t>
            </a:r>
            <a:r>
              <a:rPr lang="en-IN" dirty="0"/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603098-12AA-7F79-E963-45180786B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169099"/>
              </p:ext>
            </p:extLst>
          </p:nvPr>
        </p:nvGraphicFramePr>
        <p:xfrm>
          <a:off x="429768" y="3007745"/>
          <a:ext cx="10131424" cy="23774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53814482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9778299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30139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🧹 </a:t>
                      </a:r>
                      <a:r>
                        <a:rPr lang="en-IN" sz="1800" b="1"/>
                        <a:t>Data Engineering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ETL/ELT transformations using Python instead of SQL.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38874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🤖 </a:t>
                      </a:r>
                      <a:r>
                        <a:rPr lang="en-IN" sz="1800" b="1"/>
                        <a:t>Data Science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Feature engineering &amp; ML model training inside Snowflake.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823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🔗 </a:t>
                      </a:r>
                      <a:r>
                        <a:rPr lang="en-IN" sz="1800" b="1"/>
                        <a:t>Application Development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Build data-driven apps without exporting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282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🧾 </a:t>
                      </a:r>
                      <a:r>
                        <a:rPr lang="en-IN" sz="1800" b="1"/>
                        <a:t>UDF/Stored Procedure Logic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Implement complex business logic using Python.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063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839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Travel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Time Travel in Snowflake is a powerful data recovery and historical access feature that allows users to query, clone, or restore data from the past.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It helps organizations recover from accidental data modifications or deletions and supports auditing, debugging, and historical analysis.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 Purpose of Time Travel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Enables access to historical data for a defined period.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Allows recovery of tables, schemas, and databases that were dropped.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Facilitates point-in-time data analysis and auditing.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Supports cloning objects from a specific historical state.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Reduces data loss risk caused by human error or incorrect processes.</a:t>
            </a: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346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Travel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Retention Periods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default retention period</a:t>
            </a:r>
            <a:r>
              <a:rPr lang="en-US" dirty="0"/>
              <a:t> is </a:t>
            </a:r>
            <a:r>
              <a:rPr lang="en-US" b="1" dirty="0"/>
              <a:t>1 day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b="1" dirty="0"/>
              <a:t>Enterprise Edition and above</a:t>
            </a:r>
            <a:r>
              <a:rPr lang="en-US" dirty="0"/>
              <a:t>, it can be extended up to </a:t>
            </a:r>
            <a:r>
              <a:rPr lang="en-US" b="1" dirty="0"/>
              <a:t>90 days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retention period applies to both active and dropped objects.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Dropped objects remain recoverable until their retention period expires.</a:t>
            </a:r>
          </a:p>
          <a:p>
            <a:endParaRPr lang="en-US" b="1" dirty="0"/>
          </a:p>
          <a:p>
            <a:r>
              <a:rPr lang="en-US" b="1" dirty="0"/>
              <a:t>Supported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Permanent tables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Transient tables (with limited retention)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Schemas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Stages (for certain metadata)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329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Travel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Operations Enabled by Time Travel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Query Historical Data</a:t>
            </a:r>
            <a:r>
              <a:rPr lang="en-US" dirty="0"/>
              <a:t> – Access data from a specific past time or version.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Clone Historical Data</a:t>
            </a:r>
            <a:r>
              <a:rPr lang="en-US" dirty="0"/>
              <a:t> – Create a new object from a previous version without copying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 err="1"/>
              <a:t>Undrop</a:t>
            </a:r>
            <a:r>
              <a:rPr lang="en-US" b="1" dirty="0"/>
              <a:t> Objects</a:t>
            </a:r>
            <a:r>
              <a:rPr lang="en-US" dirty="0"/>
              <a:t> – Recover dropped tables, schemas, or databases within their retention period.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Audit and Forensics</a:t>
            </a:r>
            <a:r>
              <a:rPr lang="en-US" dirty="0"/>
              <a:t> – Examine historical data for debugging, compliance, or validation purposes.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Interaction with Fail-safe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After the </a:t>
            </a:r>
            <a:r>
              <a:rPr lang="en-US" b="1" dirty="0"/>
              <a:t>Time Travel retention period</a:t>
            </a:r>
            <a:r>
              <a:rPr lang="en-US" dirty="0"/>
              <a:t> expires, data moves into </a:t>
            </a:r>
            <a:r>
              <a:rPr lang="en-US" b="1" dirty="0"/>
              <a:t>Fail-safe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Fail-safe</a:t>
            </a:r>
            <a:r>
              <a:rPr lang="en-US" dirty="0"/>
              <a:t> is a 7-day period for Snowflake-managed recovery.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Users cannot query or clone data during Fail-safe; only Snowflake can recover it.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 + Fail-safe ensures total data protection.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Limitations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Not supported for </a:t>
            </a:r>
            <a:r>
              <a:rPr lang="en-US" b="1" dirty="0"/>
              <a:t>temporary tables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Retention duration</a:t>
            </a:r>
            <a:r>
              <a:rPr lang="en-US" dirty="0"/>
              <a:t> depends on the Snowflake edition.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Fail-safe</a:t>
            </a:r>
            <a:r>
              <a:rPr lang="en-US" dirty="0"/>
              <a:t> cannot be disabled or shortened.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Time Travel operations may consume additional storage if historical data accumulates extensively.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852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Zero-Copy Cloning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Zero-Copy Cloning?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Snowflake feature that creates a logical copy of a database, schema, or table without physically duplicating the underlying micro-partition storage at the time of creation.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Clones are instantaneous (metadata operations) and initially consume negligible additional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After creation, clones and sources diverge only when changes are made; changed micro-partitions are written separately (copy-on-write behavior).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How it works (internals, high level)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stores data in immutable micro-partitions (read-only blocks).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clone is a new set of metadata pointers to the same micro-partitions as the source.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 WRITE operations to either the clone or the source, Snowflake creates new micro-partitions for the modified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clone references the historical versions of micro-partitions (enabled via Time Travel) so the clone represents the object state at clone-time.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is often called </a:t>
            </a:r>
            <a:r>
              <a:rPr lang="en-US" i="1" dirty="0"/>
              <a:t>copy-on-write</a:t>
            </a:r>
            <a:r>
              <a:rPr lang="en-US" dirty="0"/>
              <a:t> or </a:t>
            </a:r>
            <a:r>
              <a:rPr lang="en-US" i="1" dirty="0"/>
              <a:t>metadata-only clone</a:t>
            </a:r>
            <a:r>
              <a:rPr lang="en-US" dirty="0"/>
              <a:t>.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171700" lvl="4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549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Zero-Copy Cloning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Cloneable objects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Schemas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Tables (permanent, transient, temporary where applicable)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Other objects: stages, file formats, sequences, roles (object-specific restrictions may apply)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r>
              <a:rPr lang="en-US" b="1" dirty="0"/>
              <a:t>Storage &amp; Billing behavior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At creation: clones do </a:t>
            </a:r>
            <a:r>
              <a:rPr lang="en-US" b="1" dirty="0"/>
              <a:t>not</a:t>
            </a:r>
            <a:r>
              <a:rPr lang="en-US" dirty="0"/>
              <a:t> increase data storage because they point to existing micro-partitions.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 modification: only changed micro-partitions (new data) consume additional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 &amp; Fail-safe: cloned objects may extend the life of micro-partitions indirectly because Time Travel retention applies; ensure retention settings are considered for cost planning.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628900" lvl="5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610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Zero-Copy Cloning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Common use cases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Development &amp; testing environments: spin up isolated copies for experiments without paying for full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Analytics sandboxes: analysts can create working copies to test transformations.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Backup / snapshot workflows: quick point-in-time snapshots for short-term rollback.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1738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Data Sharing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Enables real-time access to live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Eliminates ETL processes, data duplication, and latency issues.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Benefits of Snowflake Data Sharing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need to copy or move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Consumers access the same data stored in the provider’s account.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Consumers always see the </a:t>
            </a:r>
            <a:r>
              <a:rPr lang="en-US" b="1" dirty="0"/>
              <a:t>latest version</a:t>
            </a:r>
            <a:r>
              <a:rPr lang="en-US" dirty="0"/>
              <a:t> of shared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Granular access control (schemas, tables, views).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Provider maintains full ownership.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additional storage costs for consumers.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Share data seamlessly across </a:t>
            </a:r>
            <a:r>
              <a:rPr lang="en-US" b="1" dirty="0"/>
              <a:t>different cloud providers (AWS, Azure, GCP)</a:t>
            </a:r>
            <a:r>
              <a:rPr lang="en-US" dirty="0"/>
              <a:t> and regions.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63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Data Sharing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43256" y="3515976"/>
            <a:ext cx="11905488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Types of Data Sharing</a:t>
            </a:r>
          </a:p>
          <a:p>
            <a:r>
              <a:rPr lang="en-IN" b="1" dirty="0"/>
              <a:t>Direct Sharing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Share data directly between </a:t>
            </a:r>
            <a:r>
              <a:rPr lang="en-IN" b="1" dirty="0"/>
              <a:t>two Snowflake accounts</a:t>
            </a:r>
            <a:r>
              <a:rPr lang="en-IN" dirty="0"/>
              <a:t> within the same region/cloud.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Consumers can access data immediately.</a:t>
            </a:r>
          </a:p>
          <a:p>
            <a:r>
              <a:rPr lang="en-IN" b="1" dirty="0"/>
              <a:t>Cross-Region Sharing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Share data across </a:t>
            </a:r>
            <a:r>
              <a:rPr lang="en-IN" b="1" dirty="0"/>
              <a:t>different Snowflake regions</a:t>
            </a:r>
            <a:r>
              <a:rPr lang="en-IN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Uses </a:t>
            </a:r>
            <a:r>
              <a:rPr lang="en-IN" b="1" dirty="0"/>
              <a:t>Snowflake Secure Data Exchange</a:t>
            </a:r>
            <a:r>
              <a:rPr lang="en-IN" dirty="0"/>
              <a:t>.</a:t>
            </a:r>
          </a:p>
          <a:p>
            <a:r>
              <a:rPr lang="en-IN" b="1" dirty="0"/>
              <a:t>Cross-Cloud Sharing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Share data between </a:t>
            </a:r>
            <a:r>
              <a:rPr lang="en-IN" b="1" dirty="0"/>
              <a:t>different cloud platforms</a:t>
            </a:r>
            <a:r>
              <a:rPr lang="en-IN" dirty="0"/>
              <a:t> (AWS → Azure → GCP).</a:t>
            </a:r>
          </a:p>
          <a:p>
            <a:r>
              <a:rPr lang="en-IN" b="1" dirty="0"/>
              <a:t>Data Marketplace / Exchange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Publish data products publicly or privately in the </a:t>
            </a:r>
            <a:r>
              <a:rPr lang="en-IN" b="1" dirty="0"/>
              <a:t>Snowflake Marketplace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1F6715-A359-5C01-463D-EA1B52F2D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66653"/>
              </p:ext>
            </p:extLst>
          </p:nvPr>
        </p:nvGraphicFramePr>
        <p:xfrm>
          <a:off x="502920" y="690265"/>
          <a:ext cx="10616184" cy="2651760"/>
        </p:xfrm>
        <a:graphic>
          <a:graphicData uri="http://schemas.openxmlformats.org/drawingml/2006/table">
            <a:tbl>
              <a:tblPr/>
              <a:tblGrid>
                <a:gridCol w="5308092">
                  <a:extLst>
                    <a:ext uri="{9D8B030D-6E8A-4147-A177-3AD203B41FA5}">
                      <a16:colId xmlns:a16="http://schemas.microsoft.com/office/drawing/2014/main" val="3655183535"/>
                    </a:ext>
                  </a:extLst>
                </a:gridCol>
                <a:gridCol w="5308092">
                  <a:extLst>
                    <a:ext uri="{9D8B030D-6E8A-4147-A177-3AD203B41FA5}">
                      <a16:colId xmlns:a16="http://schemas.microsoft.com/office/drawing/2014/main" val="142234637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7164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Data Provider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Snowflake account that owns and shares the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36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Data Consumer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account that receives and queries shared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3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Share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object that defines what data is shared and to whom.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7585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Reader Account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Snowflake-managed account created by provider for users who don’t have Snowflake.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45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5834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Task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Task</a:t>
            </a:r>
            <a:r>
              <a:rPr lang="en-US" dirty="0"/>
              <a:t> in Snowflake is a </a:t>
            </a:r>
            <a:r>
              <a:rPr lang="en-US" b="1" dirty="0"/>
              <a:t>database object</a:t>
            </a:r>
            <a:r>
              <a:rPr lang="en-US" dirty="0"/>
              <a:t> used to </a:t>
            </a:r>
            <a:r>
              <a:rPr lang="en-US" b="1" dirty="0"/>
              <a:t>schedule and automate SQL statements</a:t>
            </a:r>
            <a:r>
              <a:rPr lang="en-US" dirty="0"/>
              <a:t> — such as: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transformations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 refreshes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Stream and merge operations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ETL/ELT workflow orchestration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It works like a </a:t>
            </a:r>
            <a:r>
              <a:rPr lang="en-US" b="1" dirty="0"/>
              <a:t>scheduler or </a:t>
            </a:r>
            <a:r>
              <a:rPr lang="en-US" b="1" dirty="0" err="1"/>
              <a:t>cron</a:t>
            </a:r>
            <a:r>
              <a:rPr lang="en-US" b="1" dirty="0"/>
              <a:t> job inside Snowflake</a:t>
            </a:r>
            <a:r>
              <a:rPr lang="en-US" dirty="0"/>
              <a:t>, using the </a:t>
            </a:r>
            <a:r>
              <a:rPr lang="en-US" b="1" dirty="0"/>
              <a:t>Snowflake engine</a:t>
            </a:r>
            <a:r>
              <a:rPr lang="en-US" dirty="0"/>
              <a:t> (no external scheduler required).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2F4B8D-9172-CA91-8CA7-A1CC0A582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89049"/>
              </p:ext>
            </p:extLst>
          </p:nvPr>
        </p:nvGraphicFramePr>
        <p:xfrm>
          <a:off x="649224" y="3694809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79974045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39110801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516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Automation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 SQL commands automatically on a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7263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Integration with Streams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Combine Tasks + Streams for incremental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286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Chaining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 task can trigger another (task hierarchy)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16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Cron Scheduling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Flexible timing using CRON 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4235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Error Handling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Task retries and status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4179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Pause/Resume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Easily enable or suspend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44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4636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Task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3CC4F4-EA37-139B-7567-9BD66CE59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18174"/>
              </p:ext>
            </p:extLst>
          </p:nvPr>
        </p:nvGraphicFramePr>
        <p:xfrm>
          <a:off x="237744" y="1003713"/>
          <a:ext cx="10131424" cy="17373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430703297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99817922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8972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Standalone Task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Runs independently on a time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511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Child Task (Dependent Task)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Runs after a parent task completes successfully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3444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Stream Task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Consumes data from a Stream for near-real-time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606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537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Stream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Stream</a:t>
            </a:r>
            <a:r>
              <a:rPr lang="en-US" dirty="0"/>
              <a:t> in Snowflake is a </a:t>
            </a:r>
            <a:r>
              <a:rPr lang="en-US" b="1" dirty="0"/>
              <a:t>change tracking object</a:t>
            </a:r>
            <a:r>
              <a:rPr lang="en-US" dirty="0"/>
              <a:t> that records </a:t>
            </a:r>
            <a:r>
              <a:rPr lang="en-US" b="1" dirty="0"/>
              <a:t>inserts, updates, and deletes</a:t>
            </a:r>
            <a:r>
              <a:rPr lang="en-US" dirty="0"/>
              <a:t> made to a table.</a:t>
            </a:r>
          </a:p>
          <a:p>
            <a:r>
              <a:rPr lang="en-US" dirty="0"/>
              <a:t>It provides a </a:t>
            </a:r>
            <a:r>
              <a:rPr lang="en-US" b="1" dirty="0"/>
              <a:t>Change Data Capture (CDC)</a:t>
            </a:r>
            <a:r>
              <a:rPr lang="en-US" dirty="0"/>
              <a:t> mechanism — allowing you to identify and process only the </a:t>
            </a:r>
            <a:r>
              <a:rPr lang="en-US" b="1" dirty="0"/>
              <a:t>changed data</a:t>
            </a:r>
            <a:r>
              <a:rPr lang="en-US" dirty="0"/>
              <a:t> instead of scanning the whole table.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4643C-9DF7-0A7E-D3DC-E021697A2650}"/>
              </a:ext>
            </a:extLst>
          </p:cNvPr>
          <p:cNvSpPr txBox="1"/>
          <p:nvPr/>
        </p:nvSpPr>
        <p:spPr>
          <a:xfrm>
            <a:off x="187452" y="2223315"/>
            <a:ext cx="6117336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Use Streams?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✅ Capture incremental changes in real time</a:t>
            </a:r>
            <a:br>
              <a:rPr lang="en-IN" dirty="0"/>
            </a:br>
            <a:r>
              <a:rPr lang="en-IN" dirty="0"/>
              <a:t>✅ Reduce data processing cost and time</a:t>
            </a:r>
            <a:br>
              <a:rPr lang="en-IN" dirty="0"/>
            </a:br>
            <a:r>
              <a:rPr lang="en-IN" dirty="0"/>
              <a:t>✅ Build </a:t>
            </a:r>
            <a:r>
              <a:rPr lang="en-IN" b="1" dirty="0"/>
              <a:t>ETL / ELT pipelines</a:t>
            </a:r>
            <a:r>
              <a:rPr lang="en-IN" dirty="0"/>
              <a:t> efficiently</a:t>
            </a:r>
            <a:br>
              <a:rPr lang="en-IN" dirty="0"/>
            </a:br>
            <a:r>
              <a:rPr lang="en-IN" dirty="0"/>
              <a:t>✅ Combine with </a:t>
            </a:r>
            <a:r>
              <a:rPr lang="en-IN" b="1" dirty="0"/>
              <a:t>Tasks</a:t>
            </a:r>
            <a:r>
              <a:rPr lang="en-IN" dirty="0"/>
              <a:t> for full automation</a:t>
            </a:r>
            <a:br>
              <a:rPr lang="en-IN" dirty="0"/>
            </a:br>
            <a:r>
              <a:rPr lang="en-IN" dirty="0"/>
              <a:t>✅ Ideal for </a:t>
            </a:r>
            <a:r>
              <a:rPr lang="en-IN" b="1" dirty="0"/>
              <a:t>data lake → Snowflake → analytics</a:t>
            </a:r>
            <a:r>
              <a:rPr lang="en-IN" dirty="0"/>
              <a:t> pipelines</a:t>
            </a:r>
          </a:p>
        </p:txBody>
      </p:sp>
    </p:spTree>
    <p:extLst>
      <p:ext uri="{BB962C8B-B14F-4D97-AF65-F5344CB8AC3E}">
        <p14:creationId xmlns:p14="http://schemas.microsoft.com/office/powerpoint/2010/main" val="2444496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 Pipe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Snowpipe</a:t>
            </a:r>
            <a:r>
              <a:rPr lang="en-IN" dirty="0"/>
              <a:t> is Snowflake’s </a:t>
            </a:r>
            <a:r>
              <a:rPr lang="en-IN" b="1" dirty="0"/>
              <a:t>continuous data ingestion service</a:t>
            </a:r>
            <a:r>
              <a:rPr lang="en-IN" dirty="0"/>
              <a:t> that automatically loads data from external storage (like </a:t>
            </a:r>
            <a:r>
              <a:rPr lang="en-IN" b="1" dirty="0"/>
              <a:t>AWS S3</a:t>
            </a:r>
            <a:r>
              <a:rPr lang="en-IN" dirty="0"/>
              <a:t>, </a:t>
            </a:r>
            <a:r>
              <a:rPr lang="en-IN" b="1" dirty="0"/>
              <a:t>Azure Blob</a:t>
            </a:r>
            <a:r>
              <a:rPr lang="en-IN" dirty="0"/>
              <a:t>, or </a:t>
            </a:r>
            <a:r>
              <a:rPr lang="en-IN" b="1" dirty="0"/>
              <a:t>GCP</a:t>
            </a:r>
            <a:r>
              <a:rPr lang="en-IN" dirty="0"/>
              <a:t>) into Snowflake tables </a:t>
            </a:r>
            <a:r>
              <a:rPr lang="en-IN" b="1" dirty="0"/>
              <a:t>as soon as files arrive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Enables </a:t>
            </a:r>
            <a:r>
              <a:rPr lang="en-IN" b="1" dirty="0"/>
              <a:t>real-time or near real-time</a:t>
            </a:r>
            <a:r>
              <a:rPr lang="en-IN" dirty="0"/>
              <a:t> data ingestion.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event notifications</a:t>
            </a:r>
            <a:r>
              <a:rPr lang="en-IN" dirty="0"/>
              <a:t> (SNS/SQS or Pub/Sub).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Requires </a:t>
            </a:r>
            <a:r>
              <a:rPr lang="en-IN" b="1" dirty="0"/>
              <a:t>no manual COPY commands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Fully </a:t>
            </a:r>
            <a:r>
              <a:rPr lang="en-IN" b="1" dirty="0"/>
              <a:t>serverless</a:t>
            </a:r>
            <a:r>
              <a:rPr lang="en-IN" dirty="0"/>
              <a:t> – Snowflake manages compute automatically.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1AD5A6-317C-5A13-8562-5F4B88CD6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41935"/>
              </p:ext>
            </p:extLst>
          </p:nvPr>
        </p:nvGraphicFramePr>
        <p:xfrm>
          <a:off x="292608" y="3429000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05869903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8266767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1642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Continuous Loading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loads new data as it arrives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8543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Serverless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Snowflake manages compute and scaling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3388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Event-based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Triggered by storage event notifications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74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Automatic Deduplication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Avoids reloading the same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69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Secure Access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IAM roles and storage integrations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1323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Pay-per-Use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Charges only for compute used during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37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738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 Pipe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43256" y="868680"/>
            <a:ext cx="11905488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</a:t>
            </a:r>
            <a:r>
              <a:rPr lang="en-US" b="1" dirty="0" err="1"/>
              <a:t>Snowpipe</a:t>
            </a:r>
            <a:r>
              <a:rPr lang="en-US" b="1" dirty="0"/>
              <a:t> Works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new file is uploaded to S3.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S3 generates an </a:t>
            </a:r>
            <a:r>
              <a:rPr lang="en-US" b="1" dirty="0"/>
              <a:t>event notification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event is sent to </a:t>
            </a:r>
            <a:r>
              <a:rPr lang="en-US" b="1" dirty="0"/>
              <a:t>SNS topic</a:t>
            </a:r>
            <a:r>
              <a:rPr lang="en-US" dirty="0"/>
              <a:t> and </a:t>
            </a:r>
            <a:r>
              <a:rPr lang="en-US" b="1" dirty="0"/>
              <a:t>SQS queue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receives the event and triggers </a:t>
            </a:r>
            <a:r>
              <a:rPr lang="en-US" b="1" dirty="0" err="1"/>
              <a:t>Snowpipe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Snowpipe</a:t>
            </a:r>
            <a:r>
              <a:rPr lang="en-US" dirty="0"/>
              <a:t> executes the </a:t>
            </a:r>
            <a:r>
              <a:rPr lang="en-US" b="1" dirty="0"/>
              <a:t>COPY INTO</a:t>
            </a:r>
            <a:r>
              <a:rPr lang="en-US" dirty="0"/>
              <a:t> command.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is loaded into the target table.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5289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Data Masking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Data Masking in Snowflake is a </a:t>
            </a:r>
            <a:r>
              <a:rPr lang="en-US" b="1" dirty="0"/>
              <a:t>security feature</a:t>
            </a:r>
            <a:r>
              <a:rPr lang="en-US" dirty="0"/>
              <a:t> that hides  sensitive data (like PII — Personally Identifiable Information) from unauthorized users.</a:t>
            </a:r>
            <a:br>
              <a:rPr lang="en-US" dirty="0"/>
            </a:br>
            <a:r>
              <a:rPr lang="en-US" dirty="0"/>
              <a:t>It allows you to </a:t>
            </a:r>
            <a:r>
              <a:rPr lang="en-US" b="1" dirty="0"/>
              <a:t>dynamically control</a:t>
            </a:r>
            <a:r>
              <a:rPr lang="en-US" dirty="0"/>
              <a:t> how data is displayed </a:t>
            </a:r>
            <a:r>
              <a:rPr lang="en-US" b="1" dirty="0"/>
              <a:t>based on user roles or privileges</a:t>
            </a:r>
            <a:r>
              <a:rPr lang="en-US" dirty="0"/>
              <a:t>, without duplicating or encrypting the data itself.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4643C-9DF7-0A7E-D3DC-E021697A2650}"/>
              </a:ext>
            </a:extLst>
          </p:cNvPr>
          <p:cNvSpPr txBox="1"/>
          <p:nvPr/>
        </p:nvSpPr>
        <p:spPr>
          <a:xfrm>
            <a:off x="187452" y="2223315"/>
            <a:ext cx="61173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Use Data Masking?</a:t>
            </a:r>
          </a:p>
          <a:p>
            <a:r>
              <a:rPr lang="en-US" dirty="0"/>
              <a:t>✅ Protect sensitive data such as: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Credit card numbers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Social Security Numbers (SSNs)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Email addresses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Salary or medical 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C9BE3A-F538-DEED-B4BB-C29DC8AF7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01940"/>
              </p:ext>
            </p:extLst>
          </p:nvPr>
        </p:nvGraphicFramePr>
        <p:xfrm>
          <a:off x="187452" y="4588161"/>
          <a:ext cx="10131426" cy="19202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267802353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288110046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0300658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2866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Dynamic Data Masking (DDM)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Masks data at query time based on user 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Returns masked or unmasked value depending on the current 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11768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External Tokenization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Integrates with external providers to tokenize data before loading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Useful for enterprise-level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67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5144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dirty="0"/>
              <a:t>Row-Level Security (RLS) in Snowflake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Row-Level Security (RLS) restricts access to specific rows in a table based on user identity or role.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Ensures that users see </a:t>
            </a: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the data they are authorized</a:t>
            </a: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view.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sales manager can see only sales data from their region.</a:t>
            </a:r>
          </a:p>
          <a:p>
            <a:endParaRPr lang="en-US" b="1" dirty="0"/>
          </a:p>
          <a:p>
            <a:r>
              <a:rPr lang="en-US" b="1" dirty="0"/>
              <a:t>Why Use Row-Level Security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Protect sensitive data (e.g., salary, customer data).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Enforce </a:t>
            </a:r>
            <a:r>
              <a:rPr lang="en-US" b="1" dirty="0"/>
              <a:t>compliance and governance</a:t>
            </a:r>
            <a:r>
              <a:rPr lang="en-US" dirty="0"/>
              <a:t> policies.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Support </a:t>
            </a:r>
            <a:r>
              <a:rPr lang="en-US" b="1" dirty="0"/>
              <a:t>multi-tenant applications</a:t>
            </a:r>
            <a:r>
              <a:rPr lang="en-US" dirty="0"/>
              <a:t> where each client accesses only their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Simplify data models by avoiding separate tables per user/group.</a:t>
            </a:r>
          </a:p>
          <a:p>
            <a:endParaRPr lang="en-US" b="1" dirty="0"/>
          </a:p>
          <a:p>
            <a:r>
              <a:rPr lang="en-US" b="1" dirty="0"/>
              <a:t>How Row-Level Security Works in Snowflake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Implemented using </a:t>
            </a:r>
            <a:r>
              <a:rPr lang="en-US" b="1" dirty="0"/>
              <a:t>Row Access Policies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Policies are attached to tables or views.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Snowflake automatically filters rows based on the policy’s logic.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5284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dirty="0"/>
              <a:t>Column-Level Security (RLS) in Snowflake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Column Access Policy (CAP) controls which users or roles can access specific columns in a table or view.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Provides fine-grained access control at the column level — useful for securing sensitive attributes like SSN, salary, </a:t>
            </a:r>
            <a:endParaRPr lang="en-US" b="1" dirty="0"/>
          </a:p>
          <a:p>
            <a:pPr>
              <a:spcBef>
                <a:spcPts val="600"/>
              </a:spcBef>
            </a:pPr>
            <a:r>
              <a:rPr lang="en-US" dirty="0"/>
              <a:t>How Column Access Policy Works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Implemented using CREATE COLUMN ACCESS POLICY command.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Policy logic defines who can access the column(s).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Policy is attached to one or more columns in a table or view.</a:t>
            </a:r>
          </a:p>
          <a:p>
            <a:pPr>
              <a:spcBef>
                <a:spcPts val="600"/>
              </a:spcBef>
            </a:pPr>
            <a:r>
              <a:rPr lang="en-US" dirty="0"/>
              <a:t>Uses functions such as: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CURRENT_ROLE()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CURRENT_USER()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CURRENT_ACCOUNT()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9498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Caching in Snowflake is the process of temporarily storing data, metadata, and query results to improve query performance and reduce compute cost.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Reduce query execution time.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Minimize resource consumption (compute and I/O).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Enhance overall performance for repeated queries.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Types off Caching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BF2716-116A-FB98-C1E8-CD9A07225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08341"/>
              </p:ext>
            </p:extLst>
          </p:nvPr>
        </p:nvGraphicFramePr>
        <p:xfrm>
          <a:off x="301752" y="3429000"/>
          <a:ext cx="10821955" cy="2560320"/>
        </p:xfrm>
        <a:graphic>
          <a:graphicData uri="http://schemas.openxmlformats.org/drawingml/2006/table">
            <a:tbl>
              <a:tblPr/>
              <a:tblGrid>
                <a:gridCol w="2066544">
                  <a:extLst>
                    <a:ext uri="{9D8B030D-6E8A-4147-A177-3AD203B41FA5}">
                      <a16:colId xmlns:a16="http://schemas.microsoft.com/office/drawing/2014/main" val="3272831123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876098226"/>
                    </a:ext>
                  </a:extLst>
                </a:gridCol>
                <a:gridCol w="3067875">
                  <a:extLst>
                    <a:ext uri="{9D8B030D-6E8A-4147-A177-3AD203B41FA5}">
                      <a16:colId xmlns:a16="http://schemas.microsoft.com/office/drawing/2014/main" val="2466473850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2290156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Cache Type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Location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Persistence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94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Result Cache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Metadata Layer (Cloud Services)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results of previously executed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Up to 24 hours.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643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Local Disk Cache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Virtual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micro-partitions of data retrieved from remote storage.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Until warehouse is suspended or resized.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11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Metadata Cache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table and file metadata to avoid re-fetching from storage.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Persistent until underlying data changes.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89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15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785F7-A91C-6A8B-D52D-FD50502531B2}"/>
              </a:ext>
            </a:extLst>
          </p:cNvPr>
          <p:cNvSpPr txBox="1"/>
          <p:nvPr/>
        </p:nvSpPr>
        <p:spPr>
          <a:xfrm>
            <a:off x="3012948" y="1329541"/>
            <a:ext cx="61173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┌──────────────────────────────┐</a:t>
            </a:r>
          </a:p>
          <a:p>
            <a:r>
              <a:rPr lang="en-IN" dirty="0"/>
              <a:t>         │        Cloud Services                                │</a:t>
            </a:r>
          </a:p>
          <a:p>
            <a:r>
              <a:rPr lang="en-IN" dirty="0"/>
              <a:t>         │  (Result Cache + Metadata)                 │</a:t>
            </a:r>
          </a:p>
          <a:p>
            <a:r>
              <a:rPr lang="en-IN" dirty="0"/>
              <a:t>         └─────────────┬────────────────┘</a:t>
            </a:r>
          </a:p>
          <a:p>
            <a:r>
              <a:rPr lang="en-IN" dirty="0"/>
              <a:t>                                        │</a:t>
            </a:r>
          </a:p>
          <a:p>
            <a:r>
              <a:rPr lang="en-IN" dirty="0"/>
              <a:t>         ┌─────────────┴────────────────┐</a:t>
            </a:r>
          </a:p>
          <a:p>
            <a:r>
              <a:rPr lang="en-IN" dirty="0"/>
              <a:t>         │   Virtual Warehouse Layer                    │</a:t>
            </a:r>
          </a:p>
          <a:p>
            <a:r>
              <a:rPr lang="en-IN" dirty="0"/>
              <a:t>         │  (Local Disk Cache / SSD)                      │</a:t>
            </a:r>
          </a:p>
          <a:p>
            <a:r>
              <a:rPr lang="en-IN" dirty="0"/>
              <a:t>         └─────────────┬────────────────┘</a:t>
            </a:r>
          </a:p>
          <a:p>
            <a:r>
              <a:rPr lang="en-IN" dirty="0"/>
              <a:t>                                        │</a:t>
            </a:r>
          </a:p>
          <a:p>
            <a:r>
              <a:rPr lang="en-IN" dirty="0"/>
              <a:t>         ┌─────────────┴────────────────┐</a:t>
            </a:r>
          </a:p>
          <a:p>
            <a:r>
              <a:rPr lang="en-IN" dirty="0"/>
              <a:t>         │     Remote Cloud Storage                      │</a:t>
            </a:r>
          </a:p>
          <a:p>
            <a:r>
              <a:rPr lang="en-IN" dirty="0"/>
              <a:t>         │ (Persistent Storage - S3/GCS)              │</a:t>
            </a:r>
          </a:p>
          <a:p>
            <a:r>
              <a:rPr lang="en-IN" dirty="0"/>
              <a:t>         └──────────────────────────────┘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463451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Snowflake Cache Lifecycle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Step 1: First Query Execution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is read from </a:t>
            </a:r>
            <a:r>
              <a:rPr lang="en-US" b="1" dirty="0"/>
              <a:t>remote storage (S3, Azure Blob, GCS)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Query results are computed and </a:t>
            </a:r>
            <a:r>
              <a:rPr lang="en-US" b="1" dirty="0"/>
              <a:t>stored in local disk cache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Final results are also saved in the </a:t>
            </a:r>
            <a:r>
              <a:rPr lang="en-US" b="1" dirty="0"/>
              <a:t>result cache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Step 2: Subsequent Query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the query text and underlying data are unchanged: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Result cache</a:t>
            </a:r>
            <a:r>
              <a:rPr lang="en-US" dirty="0"/>
              <a:t> returns the results instantly.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data has changed but still exists in </a:t>
            </a:r>
            <a:r>
              <a:rPr lang="en-US" b="1" dirty="0"/>
              <a:t>local disk cache</a:t>
            </a:r>
            <a:r>
              <a:rPr lang="en-US" dirty="0"/>
              <a:t>, it reads data locally (faster than storage access)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Types Explained in Detail</a:t>
            </a:r>
          </a:p>
          <a:p>
            <a:r>
              <a:rPr lang="en-US" b="1" dirty="0"/>
              <a:t>Result Cache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Stores results of previous queries for </a:t>
            </a:r>
            <a:r>
              <a:rPr lang="en-US" b="1" dirty="0"/>
              <a:t>24 hours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Automatically used for </a:t>
            </a:r>
            <a:r>
              <a:rPr lang="en-US" b="1" dirty="0"/>
              <a:t>identical queries</a:t>
            </a:r>
            <a:r>
              <a:rPr lang="en-US" dirty="0"/>
              <a:t> by </a:t>
            </a:r>
            <a:r>
              <a:rPr lang="en-US" b="1" dirty="0"/>
              <a:t>any user with the same role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Does not require compute</a:t>
            </a:r>
            <a:r>
              <a:rPr lang="en-US" dirty="0"/>
              <a:t> — queries are served instantly.</a:t>
            </a:r>
          </a:p>
          <a:p>
            <a:pPr>
              <a:spcBef>
                <a:spcPts val="600"/>
              </a:spcBef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0524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Conditions for result cache usage: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Same SQL text.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Same role, warehouse, and user permissions.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change in underlying data or session parameters.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Local Disk Cache (Warehouse Cache)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virtual warehouse caches </a:t>
            </a:r>
            <a:r>
              <a:rPr lang="en-US" b="1" dirty="0"/>
              <a:t>data micro-partitions</a:t>
            </a:r>
            <a:r>
              <a:rPr lang="en-US" dirty="0"/>
              <a:t> on local SSD.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Improves performance when scanning large tables repeatedly.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Cleared when: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Warehouse is </a:t>
            </a:r>
            <a:r>
              <a:rPr lang="en-US" b="1" dirty="0"/>
              <a:t>suspended</a:t>
            </a:r>
            <a:r>
              <a:rPr lang="en-US" dirty="0"/>
              <a:t>.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Warehouse is </a:t>
            </a:r>
            <a:r>
              <a:rPr lang="en-US" b="1" dirty="0"/>
              <a:t>resized</a:t>
            </a:r>
            <a:r>
              <a:rPr lang="en-US" dirty="0"/>
              <a:t>.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micro-partitions </a:t>
            </a:r>
            <a:r>
              <a:rPr lang="en-US" b="1" dirty="0"/>
              <a:t>evicted due to new queries</a:t>
            </a:r>
            <a:r>
              <a:rPr lang="en-US" dirty="0"/>
              <a:t>.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SELECT * FROM SALES WHERE DATE BETWEEN '2025-01-01' AND '2025-01-10';</a:t>
            </a:r>
          </a:p>
          <a:p>
            <a:pPr>
              <a:spcBef>
                <a:spcPts val="600"/>
              </a:spcBef>
            </a:pPr>
            <a:r>
              <a:rPr lang="en-US" dirty="0"/>
              <a:t>-- Subsequent queries on same data range use local cache.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6204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Metadata Cache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Caches table metadata, file locations, and column statistics.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Used to avoid redundant calls to storage metadata.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Reduces overhead for queries like SHOW TABLES or DESCRIBE TABLE.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SHOW TABLES LIKE 'SALES%';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-- Uses metadata cache for faster results.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Cache Invalidation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Underlying data changes (INSERT, UPDATE, DELETE, MERGE).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Schema changes (ALTER TABLE, DROP TABLE).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Result cache exceeds 24-hour limit.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Warehouse restarts or resizes (for local cache).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971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Best Practice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D71A36-7FCE-1D1D-F37B-DDFB43433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43989"/>
              </p:ext>
            </p:extLst>
          </p:nvPr>
        </p:nvGraphicFramePr>
        <p:xfrm>
          <a:off x="338328" y="1506633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548220256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2330879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Best Practice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Benefit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0320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Avoid unnecessary warehouse suspensions.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Keeps local cache warm.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499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Reuse same warehouse for repeated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Improves performance.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088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Limit frequent DML operations.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Preserves result cache validity.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4616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Optimize queries for deterministic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Maximizes cache reusability.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0555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AEBA99-EBC0-4331-B2DA-E3768C4BEE57}"/>
              </a:ext>
            </a:extLst>
          </p:cNvPr>
          <p:cNvSpPr txBox="1"/>
          <p:nvPr/>
        </p:nvSpPr>
        <p:spPr>
          <a:xfrm>
            <a:off x="251460" y="3836351"/>
            <a:ext cx="61173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SELECT QUERY_TEXT, BYTES_SCANNED, CACHE_USAGE</a:t>
            </a:r>
          </a:p>
          <a:p>
            <a:r>
              <a:rPr lang="en-IN"/>
              <a:t>FROM TABLE(INFORMATION_SCHEMA.QUERY_HISTORY())</a:t>
            </a:r>
          </a:p>
          <a:p>
            <a:r>
              <a:rPr lang="en-IN"/>
              <a:t>WHERE QUERY_TEXT LIKE '%SALES%’;</a:t>
            </a:r>
          </a:p>
          <a:p>
            <a:endParaRPr lang="en-IN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6E399-0181-CF3F-4BCE-9A5D66EDB601}"/>
              </a:ext>
            </a:extLst>
          </p:cNvPr>
          <p:cNvSpPr txBox="1"/>
          <p:nvPr/>
        </p:nvSpPr>
        <p:spPr>
          <a:xfrm>
            <a:off x="338328" y="4902631"/>
            <a:ext cx="6117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BYTES_SCANNED = 0 indicates result cache usage.</a:t>
            </a:r>
          </a:p>
          <a:p>
            <a:r>
              <a:rPr lang="en-IN" dirty="0"/>
              <a:t>CACHE_USAGE = 'LOCAL DISK' means warehouse cache hit.</a:t>
            </a:r>
          </a:p>
        </p:txBody>
      </p:sp>
    </p:spTree>
    <p:extLst>
      <p:ext uri="{BB962C8B-B14F-4D97-AF65-F5344CB8AC3E}">
        <p14:creationId xmlns:p14="http://schemas.microsoft.com/office/powerpoint/2010/main" val="6008938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Cache Performance Benefits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682F7A-3E1C-0963-CC61-ED4DA87B3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688805"/>
              </p:ext>
            </p:extLst>
          </p:nvPr>
        </p:nvGraphicFramePr>
        <p:xfrm>
          <a:off x="251460" y="1544321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96207676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77580619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Scenario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Performance Gain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0053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Result cache 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Instant (no compute)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5677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Local cache 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3x–10x faster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1665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Metadata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2x faster metadata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0386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71D2F9-941E-7A22-9A3D-0888181CE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005939"/>
              </p:ext>
            </p:extLst>
          </p:nvPr>
        </p:nvGraphicFramePr>
        <p:xfrm>
          <a:off x="251460" y="3986011"/>
          <a:ext cx="10131425" cy="2286000"/>
        </p:xfrm>
        <a:graphic>
          <a:graphicData uri="http://schemas.openxmlformats.org/drawingml/2006/table">
            <a:tbl>
              <a:tblPr/>
              <a:tblGrid>
                <a:gridCol w="2026285">
                  <a:extLst>
                    <a:ext uri="{9D8B030D-6E8A-4147-A177-3AD203B41FA5}">
                      <a16:colId xmlns:a16="http://schemas.microsoft.com/office/drawing/2014/main" val="1585293906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401058237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4088133977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2264666589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2922328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Cache Type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Used By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Storage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Lifetime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Cleared When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14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Result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24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Data/schema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10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Local Disk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Until suspend/resize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Warehouse suspend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39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Metadata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Data/schema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9841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572230D-F1CF-53C2-DB2D-3D1347954179}"/>
              </a:ext>
            </a:extLst>
          </p:cNvPr>
          <p:cNvSpPr txBox="1"/>
          <p:nvPr/>
        </p:nvSpPr>
        <p:spPr>
          <a:xfrm>
            <a:off x="141732" y="3545967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436151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{04468A7E-B669-4DE0-85AB-C388E7CF73F0}tf03457452</Template>
  <TotalTime>3777</TotalTime>
  <Words>5379</Words>
  <Application>Microsoft Office PowerPoint</Application>
  <PresentationFormat>Widescreen</PresentationFormat>
  <Paragraphs>948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Aptos</vt:lpstr>
      <vt:lpstr>Arial</vt:lpstr>
      <vt:lpstr>Calibri</vt:lpstr>
      <vt:lpstr>Calibri Light</vt:lpstr>
      <vt:lpstr>Google Sans</vt:lpstr>
      <vt:lpstr>Segoe UI</vt:lpstr>
      <vt:lpstr>Celestial</vt:lpstr>
      <vt:lpstr>Snowflake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13</cp:revision>
  <dcterms:created xsi:type="dcterms:W3CDTF">2025-09-01T11:43:39Z</dcterms:created>
  <dcterms:modified xsi:type="dcterms:W3CDTF">2025-10-14T11:37:22Z</dcterms:modified>
</cp:coreProperties>
</file>